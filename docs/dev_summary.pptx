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  <a:latin typeface="Microsoft YaHei"/>
              </a:rPr>
              <a:t>AI 辅助联网游戏开发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C7000B"/>
                </a:solidFill>
                <a:latin typeface="Microsoft YaHei"/>
              </a:rPr>
              <a:t>完整实践总结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02020"/>
                </a:solidFill>
                <a:latin typeface="Microsoft YaHei"/>
              </a:rPr>
              <a:t>沟通牌  ×  Claude Code  ×  54 PR · 有效开发 18 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本次内容（约 20 分钟）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Microsoft YaHei"/>
              </a:rPr>
              <a:t>①  项目背景与开发全貌    ②  架构设计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Microsoft YaHei"/>
              </a:rPr>
              <a:t>③  问题发现：人工 +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Microsoft YaHei"/>
              </a:rPr>
              <a:t>④  人机协同模式（4 层次 / 分工 / 反模式）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Microsoft YaHei"/>
              </a:rPr>
              <a:t>⑤  AI 质量改进路径：反思 + 多 Claude + 跨 vendor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Microsoft YaHei"/>
              </a:rPr>
              <a:t>⑥  经验总结 &amp; 后续行动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Microsoft YaHei"/>
              </a:rPr>
              <a:t>⑦  Harness 跨会话经验体系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C7000B"/>
                </a:solidFill>
                <a:latin typeface="Microsoft YaHei"/>
              </a:rPr>
              <a:t>一、项目背景与开发全貌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Microsoft YaHei"/>
              </a:rPr>
              <a:t>沟通牌：4 副牌 216 张，6 人 3v3 卡牌游戏（单机 + 联网 + Web 三模式）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7000B"/>
                </a:solidFill>
                <a:latin typeface="Microsoft YaHei"/>
              </a:rPr>
              <a:t>技术栈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</a:tblGrid>
              <a:tr h="35052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层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技术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05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共享逻辑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Kotlin Multiplatform (android+jvm+wasmJs)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05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Android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Kotlin + Coroutines + Flow + OkHttp + XML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05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Web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Compose Multiplatform 1.6.10 / Wasm-JS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05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服务端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Ktor 2.3.6 + Netty + :shared 依赖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05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反代部署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Caddy 80/443 → :8080 + systemd auto-deploy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7000B"/>
                </a:solidFill>
                <a:latin typeface="Microsoft YaHei"/>
              </a:rPr>
              <a:t>代码规模 (PR #54 后)  ·  约 19,250 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</a:tblGrid>
              <a:tr h="35052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规模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05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:apps:android (UI+网络)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19 文件 · ~6,300 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05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:apps:web (Compose MP)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23 文件 · ~3,470 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05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:shared (KMP commonMain)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9 文件 · ~2,670 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05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:server (Ktor)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4 文件 · ~1,960 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05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测试 + Android XML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24 文件 · ~4,850 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069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7000B"/>
                </a:solidFill>
                <a:latin typeface="Microsoft YaHei"/>
              </a:rPr>
              <a:t>12 阶段时间线  ·  54 PR  ·  ~170 commit  ·  有效开发 18 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48056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  <a:gridCol w="5486400"/>
              </a:tblGrid>
              <a:tr h="20320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时间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主要内容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032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2026-02-02 / 07~12 / 24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单机游戏 (#1–14)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引擎/牌型/AI/结算 · 11 轮人工 UI 反馈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032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2026-04-30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联网首版 (#16)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服务端 + 网络层 · 一次性 6,529 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032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2026-05-01~03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部署 (#17–31)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CI/Gradle/cleartext/503/Lobby UI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032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2026-05-07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深度修复 (#34)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AI 全量审查×4轮 / 8 commit / ~50 Bug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032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2026-05-08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KMP 重构 + Web (#35)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抽 :shared / Compose MP wasmJs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032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2026-05-08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Harness H1–H5 (#36–43)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hooks / TDD-gate / pr-reviewer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032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2026-05-09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Web UI 4 阶段 (#47–50)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菜单/响应式/视觉/Android 同等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032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2026-05-10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AI 接管 + 单机修复 (#51–54)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G34-G38 · PROTOCOL_VERSION 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C7000B"/>
                </a:solidFill>
                <a:latin typeface="Microsoft YaHei"/>
              </a:rPr>
              <a:t>二、架构设计：多端共享 + 服务端权威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60120"/>
            <a:ext cx="2948939" cy="8686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100" b="1">
                <a:solidFill>
                  <a:srgbClr val="C7000B"/>
                </a:solidFill>
                <a:latin typeface="Microsoft YaHei"/>
              </a:rPr>
              <a:t>:apps:android（Android 客户端，XML 布局）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ui/ → GameActivity（单机）/ OnlineGameActivity（联网）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network/ → NetworkManager / RoomManager / GameSyncManager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engine/ → MultiplayerGameEngine（桥接 :shared GameEngine）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60419" y="960120"/>
            <a:ext cx="2948939" cy="8686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100" b="1">
                <a:solidFill>
                  <a:srgbClr val="C7000B"/>
                </a:solidFill>
                <a:latin typeface="Microsoft YaHei"/>
              </a:rPr>
              <a:t>:apps:web（Compose Multiplatform / wasmJs）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AppViewModel → 统一状态机；Screen.{Home/Lobby/Room/Game/Settlement}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SinglePlayerEngine → 包装 :shared GameEngine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net/ → 浏览器原生 WebSocket（@JsFun）；NetworkClient 与 Android 同职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212079" cy="10972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100" b="1">
                <a:solidFill>
                  <a:srgbClr val="C7000B"/>
                </a:solidFill>
                <a:latin typeface="Microsoft YaHei"/>
              </a:rPr>
              <a:t>:shared（KMP：android + jvm + wasmJs）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model/   Card · Deck · Player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engine/  CardRules · SettlementCalculator · GameEngine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ai/      AIPlayer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network/ GameMessage（所有 sealed class + SerializedXxx DTO）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commonTest/ CardRulesTest · SettlementCalculatorTest · GameMessageSerializationTest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46120"/>
            <a:ext cx="5212079" cy="96012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100" b="1">
                <a:solidFill>
                  <a:srgbClr val="C7000B"/>
                </a:solidFill>
                <a:latin typeface="Microsoft YaHei"/>
              </a:rPr>
              <a:t>:server（Ktor + Netty，Gradle 子项目）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Application.kt → ServerRoomManager（房间 / AI 填充）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             └→ ServerGameManager（权威状态 / AI / 计时）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• 每房间一把 Mutex 串行化所有状态修改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• force-advance 兜底 + 三级 AI 回退 + 30s 超时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32204" y="4389120"/>
            <a:ext cx="3319272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000" b="1">
                <a:solidFill>
                  <a:srgbClr val="202020"/>
                </a:solidFill>
                <a:latin typeface="Microsoft YaHei"/>
              </a:rPr>
              <a:t>Caddy（80 / 443 TLS）→ 反代 127.0.0.1:8080</a:t>
            </a:r>
          </a:p>
          <a:p>
            <a:pPr algn="l"/>
            <a:r>
              <a:rPr sz="900" b="0">
                <a:solidFill>
                  <a:srgbClr val="606060"/>
                </a:solidFill>
                <a:latin typeface="Microsoft YaHei"/>
              </a:rPr>
              <a:t>公网 ws:// 或 wss:// /game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96237" y="1828800"/>
            <a:ext cx="353187" cy="137160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334255" y="1828800"/>
            <a:ext cx="353187" cy="137160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39" y="3063240"/>
            <a:ext cx="0" cy="182880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91839" y="4206240"/>
            <a:ext cx="0" cy="182880"/>
          </a:xfrm>
          <a:prstGeom prst="line">
            <a:avLst/>
          </a:prstGeom>
          <a:ln w="19050">
            <a:solidFill>
              <a:srgbClr val="4B55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0040" y="242316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06060"/>
                </a:solidFill>
                <a:latin typeface="Microsoft YaHei"/>
              </a:rPr>
              <a:t>依赖 :shared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423160"/>
            <a:ext cx="777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06060"/>
                </a:solidFill>
                <a:latin typeface="Microsoft YaHei"/>
              </a:rPr>
              <a:t>依赖 :shared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59" y="3081528"/>
            <a:ext cx="7772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06060"/>
                </a:solidFill>
                <a:latin typeface="Microsoft YaHei"/>
              </a:rPr>
              <a:t>依赖 :shared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59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06060"/>
                </a:solidFill>
                <a:latin typeface="Microsoft YaHei"/>
              </a:rPr>
              <a:t>WebSocket /game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7000B"/>
                </a:solidFill>
                <a:latin typeface="Microsoft YaHei"/>
              </a:rPr>
              <a:t>关键架构决策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0" y="137160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</a:tblGrid>
              <a:tr h="36576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决策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选择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状态同步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全量状态 + 单调 version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并发模型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每房间 Mutex（修改在锁内）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重连机制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sessionToken=playerId · 30s 内恢复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AI 替补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isAISubstitute 标记，不删玩家槽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共享逻辑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:shared KMP（编译期保证一致）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协议版本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PROTOCOL_VERSION=3 · 握手时拒老客户端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400800" y="4114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02020"/>
                </a:solidFill>
                <a:latin typeface="Microsoft YaHei"/>
              </a:rPr>
              <a:t>架构演进：从遗憾到修复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800" y="452628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34290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遗憾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429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KMP 共享模块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✅ PR #35 + H3：编译期唯一份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429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协议版本号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✅ PR-H3：PROTOCOL_VERSION + 握手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429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事件溯源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⚪ 未规划，全量同步够用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57200" y="6035040"/>
            <a:ext cx="11430000" cy="502920"/>
          </a:xfrm>
          <a:prstGeom prst="roundRect">
            <a:avLst/>
          </a:prstGeom>
          <a:solidFill>
            <a:srgbClr val="FAFAFA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/>
            <a:r>
              <a:rPr sz="1400" b="1">
                <a:solidFill>
                  <a:srgbClr val="C7000B"/>
                </a:solidFill>
                <a:latin typeface="Microsoft YaHei"/>
              </a:rPr>
              <a:t>核心原则：服务端权威  ·  客户端乐观响应  ·  全量状态 + version 同步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C7000B"/>
                </a:solidFill>
                <a:latin typeface="Microsoft YaHei"/>
              </a:rPr>
              <a:t>三、问题发现：人工 + AI（~128 个，4 视角不重叠）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743200" cy="14173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  <a:latin typeface="Microsoft YaHei"/>
              </a:rPr>
              <a:t>🔴 人工测试 / 反馈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0759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7000B"/>
                </a:solidFill>
                <a:latin typeface="Microsoft YaHei"/>
              </a:rPr>
              <a:t>~35  (27%)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28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Microsoft YaHei"/>
              </a:rPr>
              <a:t>UI · 部署 · 真机崩溃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960120"/>
            <a:ext cx="2743200" cy="14173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0058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  <a:latin typeface="Microsoft YaHei"/>
              </a:rPr>
              <a:t>🔵 Claude Code 主会话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30759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7000B"/>
                </a:solidFill>
                <a:latin typeface="Microsoft YaHei"/>
              </a:rPr>
              <a:t>~55  (43%)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928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Microsoft YaHei"/>
              </a:rPr>
              <a:t>全量扫描 · 跨文件 · 并发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960120"/>
            <a:ext cx="2743200" cy="14173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0058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  <a:latin typeface="Microsoft YaHei"/>
              </a:rPr>
              <a:t>🟢 Claude pr-reviewer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30759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7000B"/>
                </a:solidFill>
                <a:latin typeface="Microsoft YaHei"/>
              </a:rPr>
              <a:t>~15  (12%)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8928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Microsoft YaHei"/>
              </a:rPr>
              <a:t>独立 context · 跨文件契约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960120"/>
            <a:ext cx="2743200" cy="14173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00584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02020"/>
                </a:solidFill>
                <a:latin typeface="Microsoft YaHei"/>
              </a:rPr>
              <a:t>🟡 ChatGPT Codex 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30759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7000B"/>
                </a:solidFill>
                <a:latin typeface="Microsoft YaHei"/>
              </a:rPr>
              <a:t>~13  (10%)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8928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06060"/>
                </a:solidFill>
                <a:latin typeface="Microsoft YaHei"/>
              </a:rPr>
              <a:t>语句级边界 · entropy · 文案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146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🔴 人工发现（~35，3 阶段）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288036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389120"/>
              </a:tblGrid>
              <a:tr h="45720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症状（合并相似项）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4572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单机 (11)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UI 显示 / 游戏逻辑 / 环境兼容（炸弹重叠 · APK 签名 · 旧 Android）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4572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部署 (9)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构建编译 / 部署连通（cleartext · 503 · server URL）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4572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联网 (12)⭐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📷 卡死（×3 复现）· 📷 已收分=0 · loading 卡死 · 大厅崩溃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00800" y="2514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🔵 AI 发现（Claude ~55 · pr-reviewer ~15 · Codex ~13）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0" y="288036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931920"/>
              </a:tblGrid>
              <a:tr h="36576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来源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主要问题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Claude R1 综合 (~20)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协议 4 · 会话 3 · 房间 4 · UI 6 · 其他 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Claude R2-3 深层 (~8)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回合错位 · ArrayList 并发 · AI 回退缺失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Claude R4 根因 (~7)⭐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send() 静默失败 · Mutex 缺失 · 结算漏算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Codex (3) P1/P2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UUID.take(8) · loading 卡死 · UI 文案不一致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457200" y="4892040"/>
            <a:ext cx="11338560" cy="1554480"/>
          </a:xfrm>
          <a:prstGeom prst="roundRect">
            <a:avLst/>
          </a:prstGeom>
          <a:solidFill>
            <a:srgbClr val="FAFAFA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💡 4 视角缺一不可（盲区互补）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94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icrosoft YaHei"/>
              </a:rPr>
              <a:t>·  人工 = 截图 / 真机崩溃 / 部署环境（动态运行时）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875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icrosoft YaHei"/>
              </a:rPr>
              <a:t>·  Claude 主会话 = 跨文件链路 / 并发陷阱（静态全量扫描）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80176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02020"/>
                </a:solidFill>
                <a:latin typeface="Microsoft YaHei"/>
              </a:rPr>
              <a:t>·  Codex bot = 语句级边界 / entropy 漏洞 — Claude 几乎找不出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7278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C7000B"/>
                </a:solidFill>
                <a:latin typeface="Microsoft YaHei"/>
              </a:rPr>
              <a:t>→  单独跑一个至少漏一类问题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C7000B"/>
                </a:solidFill>
                <a:latin typeface="Microsoft YaHei"/>
              </a:rPr>
              <a:t>四、人机协同：4 层次 · 分工 · 反模式 · 效率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协同的 4 个层次（L3+L4 占本项目 ~70% 协同时间）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6035040" cy="71323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200" b="1">
                <a:solidFill>
                  <a:srgbClr val="202020"/>
                </a:solidFill>
                <a:latin typeface="Microsoft YaHei"/>
              </a:rPr>
              <a:t>Level 1　AI 执行人工指令</a:t>
            </a:r>
          </a:p>
          <a:p>
            <a:pPr algn="l"/>
            <a:r>
              <a:rPr sz="1000" b="0">
                <a:solidFill>
                  <a:srgbClr val="202020"/>
                </a:solidFill>
                <a:latin typeface="Microsoft YaHei"/>
              </a:rPr>
              <a:t>传统：人主导。人写完整指令 → AI 按指令完成 → 等待下一条。AI 沦为'会编程的工具'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66543"/>
            <a:ext cx="6035040" cy="71323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200" b="1">
                <a:solidFill>
                  <a:srgbClr val="202020"/>
                </a:solidFill>
                <a:latin typeface="Microsoft YaHei"/>
              </a:rPr>
              <a:t>Level 2　AI 提建议，人工决策</a:t>
            </a:r>
          </a:p>
          <a:p>
            <a:pPr algn="l"/>
            <a:r>
              <a:rPr sz="1000" b="0">
                <a:solidFill>
                  <a:srgbClr val="202020"/>
                </a:solidFill>
                <a:latin typeface="Microsoft YaHei"/>
              </a:rPr>
              <a:t>审稿：人审 AI。AI 完成后输出方案 + 备选 → 人工选择 / 调整 / 驳回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852928"/>
            <a:ext cx="6035040" cy="71323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200" b="1">
                <a:solidFill>
                  <a:srgbClr val="C7000B"/>
                </a:solidFill>
                <a:latin typeface="Microsoft YaHei"/>
              </a:rPr>
              <a:t>Level 3　人工反馈现象，AI 自主排查 ← 本项目大量使用</a:t>
            </a:r>
          </a:p>
          <a:p>
            <a:pPr algn="l"/>
            <a:r>
              <a:rPr sz="1000" b="0">
                <a:solidFill>
                  <a:srgbClr val="202020"/>
                </a:solidFill>
                <a:latin typeface="Microsoft YaHei"/>
              </a:rPr>
              <a:t>人工：截图 + '还卡住' / '分数错了'  AI：看代码 + 推理 + 多轮自查 + 修复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52928"/>
            <a:ext cx="73152" cy="71323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3639312"/>
            <a:ext cx="6035040" cy="71323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200" b="1">
                <a:solidFill>
                  <a:srgbClr val="C7000B"/>
                </a:solidFill>
                <a:latin typeface="Microsoft YaHei"/>
              </a:rPr>
              <a:t>Level 4　AI 主动审查，人工验证 ← 最高效模式</a:t>
            </a:r>
          </a:p>
          <a:p>
            <a:pPr algn="l"/>
            <a:r>
              <a:rPr sz="1000" b="0">
                <a:solidFill>
                  <a:srgbClr val="202020"/>
                </a:solidFill>
                <a:latin typeface="Microsoft YaHei"/>
              </a:rPr>
              <a:t>人工：开放性指令（'自查自纠所有问题'）  AI：全量扫描 + 输出清单 + 修复  人工：真机验证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39312"/>
            <a:ext cx="73152" cy="71323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914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实际任务分工矩阵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1280160"/>
          <a:ext cx="53035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</a:tblGrid>
              <a:tr h="27432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任务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人工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AI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743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需求定义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743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架构设计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70%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30%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743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编码实现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95%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743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UI 调试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60%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40%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743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逻辑 Bug 排查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80%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743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部署/网络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80%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743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文档编写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10%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90%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7432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代码审查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30%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70%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5760" y="452628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🚨 协同反模式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846320"/>
          <a:ext cx="60350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480560"/>
              </a:tblGrid>
              <a:tr h="283464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反模式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后果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8346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过度信任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AI 说「已修复」直接合入 → 反复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8346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模糊指令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「把 bug 修了」→ 只修表象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8346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一次到位幻想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期待一次解决 → 本项目经历 4 轮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8346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跳过验证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AI 修完直接发布 → 真机问题暴露不出来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583680" y="45262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📊 效率数据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583680" y="4846320"/>
          <a:ext cx="53035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</a:tblGrid>
              <a:tr h="283464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8346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人工总投入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~30 小时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8346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AI 等效工作量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~300 小时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8346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提速比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约 10 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28346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单次成功率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~12%（需多轮）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65760" y="6355080"/>
            <a:ext cx="11430000" cy="411480"/>
          </a:xfrm>
          <a:prstGeom prst="roundRect">
            <a:avLst/>
          </a:prstGeom>
          <a:solidFill>
            <a:srgbClr val="FAFAFA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/>
            <a:r>
              <a:rPr sz="1000" b="1">
                <a:solidFill>
                  <a:srgbClr val="C7000B"/>
                </a:solidFill>
                <a:latin typeface="Microsoft YaHei"/>
              </a:rPr>
              <a:t>💡 高效协同 6 条：①症状具体  ②截图优于文字  ③允许多轮  ④关键决策人工拍板  ⑤人工守发布闸门  ⑥开放性指令激发全量审查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C7000B"/>
                </a:solidFill>
                <a:latin typeface="Microsoft YaHei"/>
              </a:rPr>
              <a:t>五、反思：为什么 AI 写的代码 Bug 不少？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🔵 生成阶段必然有 Bug 的 5 个结构性原因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114800"/>
                <a:gridCol w="6675120"/>
              </a:tblGrid>
              <a:tr h="38100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原因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本项目例子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810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生成 vs 验证是不同认知任务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canBeat 套用「同张数比大小」常用模式，忽略大炸弹直胜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810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生成时无执行反馈，时序/并发是盲区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WebSocket CONNECTING 时 send() 静默失败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810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自然语言规格隐式不完整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「重连后游戏继续」未明确秒数和保留状态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810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模式匹配编码「常用 ≠ 正确」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UUID.take(8) / ArrayList — 常用但联网场景错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8100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跨文件一致性是结构盲区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单机 CardRules vs 服务端 canBeat — 双份 3 处不一致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🔁 多轮自审仍能发现新问题的 4 个原因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2062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114800"/>
                <a:gridCol w="6675120"/>
              </a:tblGrid>
              <a:tr h="36576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原因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本项目体现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每轮在问不同的问题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R1:「代码整洁吗？」 R4:「为什么 3 次修了还卡？」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自审有确认偏差，用户「还卡住」才打破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4 轮逐层挖到 send() 静默失败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症状被消除后下一层根因才暴露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canBeat → 回退链 → Mutex → 兜底 必须按序解锁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注意力有限，单轮无法全部仔细看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1M 上下文 ≠ 全部能仔细分析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6172200"/>
            <a:ext cx="11338560" cy="502920"/>
          </a:xfrm>
          <a:prstGeom prst="roundRect">
            <a:avLst/>
          </a:prstGeom>
          <a:solidFill>
            <a:srgbClr val="FAFAFA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/>
            <a:r>
              <a:rPr sz="1200" b="1">
                <a:solidFill>
                  <a:srgbClr val="C7000B"/>
                </a:solidFill>
                <a:latin typeface="Microsoft YaHei"/>
              </a:rPr>
              <a:t>💡 启示：AI 写代码不是「一次到位」，而是「快速迭代到位」 — 接受多轮，但用工具/流程压低轮次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C7000B"/>
                </a:solidFill>
                <a:latin typeface="Microsoft YaHei"/>
              </a:rPr>
              <a:t>五、多 Claude 模型协同的 5 种模式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可用模型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389120"/>
              </a:tblGrid>
              <a:tr h="36576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特点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适合的角色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Claude Opus 4.7（1M）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推理深度最强，全局视角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架构 / 根因分析 / 深度审查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Claude Sonnet 4.6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平衡速度与能力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主要实现 / PR review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657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Claude Haiku 4.5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极快、便宜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静态扫描 / 测试生成 / 批量检查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971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5 种协同模式（按可行性排序）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8328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00400"/>
                <a:gridCol w="7589520"/>
              </a:tblGrid>
              <a:tr h="51816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模式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做法 / 适用场景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5181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开新会话 = 等价的「另一个 Claude」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上下文重置打破自审偏差，零成本，本项目 4 轮自查实质即此 — 推荐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5181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②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Generator / Reviewer 分工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Opus 架构 → Sonnet 实现 → Haiku 静态扫描 → Opus（新会话）根因审查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5181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对抗式审查（Adversarial）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A 实现 / B 攻击「找崩溃场景」 / C 仲裁 — 适合金钱/分数/安全代码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5181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④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TDD 反向流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Haiku 先写边界用例 → Sonnet 实现到通过 → Opus 审查覆盖率 — 最压低 Bug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51816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Self-Consistency 校验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同一任务 Opus 跑 3 次对比，差异处标记为「不确定区」 — 关键代码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C7000B"/>
                </a:solidFill>
                <a:latin typeface="Microsoft YaHei"/>
              </a:rPr>
              <a:t>五、协同天花板 &amp; 推荐工作流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⚠ 多 Claude 协同的天花板：相关性盲区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Microsoft YaHei"/>
              </a:rPr>
              <a:t>原因：所有 Claude 共享同一训练语料 + 同一训练目标 + 同一架构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  <a:latin typeface="Microsoft YaHei"/>
              </a:rPr>
              <a:t>→ Codex Bot 找到的 3 个问题（UUID 截断 / loading 卡死 / UI 不一致）多 Claude 也大概率找不出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📊 真正补盲区的策略对比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60604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029200"/>
                <a:gridCol w="2103120"/>
              </a:tblGrid>
              <a:tr h="329184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组合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找到的问题类型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互补程度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2918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多个 Claude 实例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全局架构 + 逻辑链路（多角度）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中等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2918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Claude + Codex（OpenAI）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增加细粒度风险点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较高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2918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Claude + Codex + Gemini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不同训练目标，覆盖最广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最高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2918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Claude + Detekt / SpotBugs / kover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规则化盲区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必要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Microsoft YaHei"/>
              </a:rPr>
              <a:t>🚀 给本项目的推荐工作流（如果重做联网模块）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463040"/>
          </a:xfrm>
          <a:prstGeom prst="rect">
            <a:avLst/>
          </a:prstGeom>
          <a:solidFill>
            <a:srgbClr val="F4F4F4"/>
          </a:solidFill>
          <a:ln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80000" bIns="80000"/>
          <a:lstStyle/>
          <a:p>
            <a:pPr algn="ctr"/>
            <a:r>
              <a:rPr sz="1200">
                <a:solidFill>
                  <a:srgbClr val="202020"/>
                </a:solidFill>
                <a:latin typeface="Consolas"/>
              </a:rPr>
              <a:t>开发：  Opus 4.7 (1M)  架构 + 协议    Sonnet 4.6  实现    Haiku 4.5  静态扫描</a:t>
            </a:r>
          </a:p>
          <a:p>
            <a:r>
              <a:rPr sz="1200">
                <a:solidFill>
                  <a:srgbClr val="202020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202020"/>
                </a:solidFill>
                <a:latin typeface="Consolas"/>
              </a:rPr>
              <a:t>PR 4 关：  Claude PR Review (新会话)  +  Codex Bot  +  Detekt  +  人工真机验证</a:t>
            </a:r>
          </a:p>
          <a:p>
            <a:r>
              <a:rPr sz="1200">
                <a:solidFill>
                  <a:srgbClr val="202020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202020"/>
                </a:solidFill>
                <a:latin typeface="Consolas"/>
              </a:rPr>
              <a:t>测试驱动：  关键路径（结算 / 协议 / 并发）必须 TDD，Haiku 4.5 批量生成边界用例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400800"/>
            <a:ext cx="11338560" cy="365760"/>
          </a:xfrm>
          <a:prstGeom prst="roundRect">
            <a:avLst/>
          </a:prstGeom>
          <a:solidFill>
            <a:srgbClr val="FAFAFA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/>
            <a:r>
              <a:rPr sz="1000" b="1">
                <a:solidFill>
                  <a:srgbClr val="C7000B"/>
                </a:solidFill>
                <a:latin typeface="Microsoft YaHei"/>
              </a:rPr>
              <a:t>💡 单 Claude 多轮 = 时间换覆盖率  ·  多 Claude = 视角换覆盖率  ·  多 vendor + 静态 + 真机 = 异构换覆盖率（边际收益最大）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C7000B"/>
                </a:solidFill>
                <a:latin typeface="Microsoft YaHei"/>
              </a:rPr>
              <a:t>六、经验总结 &amp; 后续行动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7000B"/>
                </a:solidFill>
                <a:latin typeface="Microsoft YaHei"/>
              </a:rPr>
              <a:t>🎯 核心经验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Microsoft YaHei"/>
              </a:rPr>
              <a:t>1. 「修了又坏」的根因：只修表层，没往深挖（需要分层根因审查）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Microsoft YaHei"/>
              </a:rPr>
              <a:t>2. 跨端共享逻辑必须用 KMP 强制（已实现 :shared 模块）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Microsoft YaHei"/>
              </a:rPr>
              <a:t>3. AI 静态扫描 + 人工真机 + Codex bot 不可互相替代（4 视角全跑）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79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Microsoft YaHei"/>
              </a:rPr>
              <a:t>4. 协议 / 环境 / 部署拓扑变更必须人工打通（grep 所有客户端）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39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Microsoft YaHei"/>
              </a:rPr>
              <a:t>5. 大特性 Phase 分段提交（协议 → 主客户端 → 次客户端）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399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Microsoft YaHei"/>
              </a:rPr>
              <a:t>6. delay() 之后必须重检所有依赖项，不只 currentPlayerIndex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7000B"/>
                </a:solidFill>
                <a:latin typeface="Microsoft YaHei"/>
              </a:rPr>
              <a:t>🚀 后续建议行动（已部分落地）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137160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</a:tblGrid>
              <a:tr h="339634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行动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3963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✅ 已实现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:shared KMP 共享模块（PR #35）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3963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✅ 已实现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PROTOCOL_VERSION + 握手（PR-H3）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3963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✅ 已实现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harness L0-L4（hooks/playbook/regression）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3963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✅ 已实现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tdd-gate CI 硬关（PR-H2）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39634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✅ 已实现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pr-reviewer subagent（PR-H5）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39636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⚪ 待规划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200">
                          <a:solidFill>
                            <a:srgbClr val="202020"/>
                          </a:solidFill>
                          <a:latin typeface="Microsoft YaHei"/>
                        </a:rPr>
                        <a:t>force-advance 监控告警 / 弱网 e2e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57200" y="4023360"/>
            <a:ext cx="11338560" cy="2103120"/>
          </a:xfrm>
          <a:prstGeom prst="roundRect">
            <a:avLst/>
          </a:prstGeom>
          <a:solidFill>
            <a:srgbClr val="FAFAFA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7000B"/>
                </a:solidFill>
                <a:latin typeface="Microsoft YaHei"/>
              </a:rPr>
              <a:t>🏆 全程交付成果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Microsoft YaHei"/>
              </a:rPr>
              <a:t>·  全程 54 PR / ~170 commit  ·  有效开发 18 天  ·  发现 ~128 个问题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02020"/>
                </a:solidFill>
                <a:latin typeface="Microsoft YaHei"/>
              </a:rPr>
              <a:t>·  Android + Web 双端  ·  KMP 共享模块（编译期保证一致）  ·  Caddy 自托管自动部署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2020"/>
                </a:solidFill>
                <a:latin typeface="Microsoft YaHei"/>
              </a:rPr>
              <a:t>·  游戏永不卡死 ✓  ·  重连无缝恢复 ✓  ·  两端结算一致 ✓  ·  PROTOCOL_VERSION = 3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💡 核心结论：4 视角覆盖率 + harness 跨会话沉淀 = 教训不浪费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06060"/>
                </a:solidFill>
                <a:latin typeface="Microsoft YaHei"/>
              </a:rPr>
              <a:t>谢谢  ·  问题 &amp; 讨论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C7000B"/>
                </a:solidFill>
                <a:latin typeface="Microsoft YaHei"/>
              </a:rPr>
              <a:t>七、Harness 跨会话经验体系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47120" cy="36576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📦 大特性的 Phase 分段提交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60350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60320"/>
                <a:gridCol w="2560320"/>
              </a:tblGrid>
              <a:tr h="35433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Phase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价值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433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Phase 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协议 + 服务端 + 单测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底层稳后再动客户端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433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Phase 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主客户端（Android）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一份吃通验证 server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433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Phase 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次客户端（Web）+ 跨端测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最后补齐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78892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🔍 Codex bot 与 Claude /review-pr 盲区互补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154680"/>
          <a:ext cx="603504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06240"/>
              </a:tblGrid>
              <a:tr h="354330"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Reviewer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5000" bIns="15000"/>
                    <a:lstStyle/>
                    <a:p>
                      <a:pPr algn="ctr"/>
                      <a:r>
                        <a:rPr sz="1200" b="1">
                          <a:solidFill>
                            <a:srgbClr val="202020"/>
                          </a:solidFill>
                          <a:latin typeface="Microsoft YaHei"/>
                        </a:rPr>
                        <a:t>擅长找到的问题</a:t>
                      </a:r>
                    </a:p>
                  </a:txBody>
                  <a:tcPr anchor="ctr">
                    <a:solidFill>
                      <a:srgbClr val="F5F5F5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433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Claude /review-pr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跨文件契约 / 文档与代码不一致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433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Codex bot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语句级边界 / 数值溢出 / UI 文案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  <a:tr h="354330"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→ 必须都跑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  <a:tc>
                  <a:txBody>
                    <a:bodyPr lIns="40000" rIns="40000" tIns="10000" bIns="10000" wrap="square"/>
                    <a:lstStyle/>
                    <a:p>
                      <a:pPr algn="l"/>
                      <a:r>
                        <a:rPr sz="1000">
                          <a:solidFill>
                            <a:srgbClr val="202020"/>
                          </a:solidFill>
                          <a:latin typeface="Microsoft YaHei"/>
                        </a:rPr>
                        <a:t>盲区不重叠：单独跑漏一类问题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 cap="flat" cmpd="sng" algn="ctr">
                      <a:solidFill>
                        <a:srgbClr val="BDBDBD"/>
                      </a:solidFill>
                    </a:lnL>
                    <a:lnR w="6350" cap="flat" cmpd="sng" algn="ctr">
                      <a:solidFill>
                        <a:srgbClr val="BDBDBD"/>
                      </a:solidFill>
                    </a:lnR>
                    <a:lnT w="6350" cap="flat" cmpd="sng" algn="ctr">
                      <a:solidFill>
                        <a:srgbClr val="BDBDBD"/>
                      </a:solidFill>
                    </a:lnT>
                    <a:lnB w="6350" cap="flat" cmpd="sng" algn="ctr">
                      <a:solidFill>
                        <a:srgbClr val="BDBDB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914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7000B"/>
                </a:solidFill>
                <a:latin typeface="Microsoft YaHei"/>
              </a:rPr>
              <a:t>🏗️  Harness 5 层防御体系（PR-H1..H5 实战搭建）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280160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200" b="1">
                <a:solidFill>
                  <a:srgbClr val="C7000B"/>
                </a:solidFill>
                <a:latin typeface="Microsoft YaHei"/>
              </a:rPr>
              <a:t>L0  记忆层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CLAUDE.md（主索引）+ docs/regressions.md（Bug 冷藏库）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+ docs/playbooks/{feature-development, bug-triage, ci-failure-triage}.md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066543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200" b="1">
                <a:solidFill>
                  <a:srgbClr val="C7000B"/>
                </a:solidFill>
                <a:latin typeface="Microsoft YaHei"/>
              </a:rPr>
              <a:t>L1  权限 &amp; 钩子层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.claude/settings.json + .claude/hooks/{SessionStart,PostToolUse,UserPromptSubmit}.sh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+ .githooks/{pre-push, commit-msg}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852928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200" b="1">
                <a:solidFill>
                  <a:srgbClr val="C7000B"/>
                </a:solidFill>
                <a:latin typeface="Microsoft YaHei"/>
              </a:rPr>
              <a:t>L2  命令 &amp; 子代理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.claude/commands/{test-fast, ship-check, pre-commit-scan, trace-bug, review-pr}.md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+ .claude/agents/{protocol-syncer, tdd-scaffolder, pr-reviewer}.md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639312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200" b="1">
                <a:solidFill>
                  <a:srgbClr val="C7000B"/>
                </a:solidFill>
                <a:latin typeface="Microsoft YaHei"/>
              </a:rPr>
              <a:t>L3  TDD 强制层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CardRulesTest（~30）+ ServerGameManagerTest（~25）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+ GameMessageSerializationTest（协议 round-trip）+ CI tdd-gate job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4425696"/>
            <a:ext cx="5394960" cy="713232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905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0000" rIns="110000" tIns="70000" bIns="70000"/>
          <a:lstStyle/>
          <a:p>
            <a:pPr algn="l"/>
            <a:r>
              <a:rPr sz="1200" b="1">
                <a:solidFill>
                  <a:srgbClr val="C7000B"/>
                </a:solidFill>
                <a:latin typeface="Microsoft YaHei"/>
              </a:rPr>
              <a:t>L4  跨 vendor 审查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Codex bot（自动每 PR）+ pr-reviewer subagent（Opus 4.7 独立 context）</a:t>
            </a:r>
          </a:p>
          <a:p>
            <a:pPr algn="l"/>
            <a:r>
              <a:rPr sz="900" b="0">
                <a:solidFill>
                  <a:srgbClr val="202020"/>
                </a:solidFill>
                <a:latin typeface="Microsoft YaHei"/>
              </a:rPr>
              <a:t>+ 季度第二 vendor + 真机最后一关；4 关 PR 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709160"/>
            <a:ext cx="11430000" cy="457200"/>
          </a:xfrm>
          <a:prstGeom prst="roundRect">
            <a:avLst/>
          </a:prstGeom>
          <a:solidFill>
            <a:srgbClr val="FAFAFA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/>
          <a:lstStyle/>
          <a:p>
            <a:pPr algn="ctr"/>
            <a:r>
              <a:rPr sz="1400" b="1">
                <a:solidFill>
                  <a:srgbClr val="C7000B"/>
                </a:solidFill>
                <a:latin typeface="Microsoft YaHei"/>
              </a:rPr>
              <a:t>💎 核心：harness 让教训跨 session 沉淀，新人 / 新 AI 不需要每次从头踩坑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06060"/>
                </a:solidFill>
                <a:latin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