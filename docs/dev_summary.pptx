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>
                <a:solidFill>
                  <a:srgbClr val="606060"/>
                </a:solidFill>
                <a:latin typeface="Microsoft YaHei"/>
              </a:rPr>
              <a:t>AI 辅助联网游戏开发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37744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5400" b="1">
                <a:solidFill>
                  <a:srgbClr val="1A73E8"/>
                </a:solidFill>
                <a:latin typeface="Microsoft YaHei"/>
              </a:rPr>
              <a:t>完整实践总结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8404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0">
                <a:solidFill>
                  <a:srgbClr val="202020"/>
                </a:solidFill>
                <a:latin typeface="Microsoft YaHei"/>
              </a:rPr>
              <a:t>沟通牌 × Claude Code × 约 3 个月实践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0292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606060"/>
                </a:solidFill>
                <a:latin typeface="Microsoft YaHei"/>
              </a:rPr>
              <a:t>技术架构  ·  问题全景  ·  人机协同模式  ·  工程经验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1A73E8"/>
                </a:solidFill>
                <a:latin typeface="Microsoft YaHei"/>
              </a:rPr>
              <a:t>目录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1247120" cy="36576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06060"/>
                </a:solidFill>
                <a:latin typeface="Microsoft YaHei"/>
              </a:rPr>
              <a:t>约 20 分钟</a:t>
            </a:r>
          </a:p>
        </p:txBody>
      </p:sp>
      <p:sp>
        <p:nvSpPr>
          <p:cNvPr id="5" name="Oval 4"/>
          <p:cNvSpPr/>
          <p:nvPr/>
        </p:nvSpPr>
        <p:spPr>
          <a:xfrm>
            <a:off x="731520" y="1463040"/>
            <a:ext cx="640080" cy="64008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14630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202020"/>
                </a:solidFill>
                <a:latin typeface="Microsoft YaHei"/>
              </a:rPr>
              <a:t>项目背景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18288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06060"/>
                </a:solidFill>
                <a:latin typeface="Microsoft YaHei"/>
              </a:rPr>
              <a:t>技术栈 · 代码规模 · 开发全貌</a:t>
            </a:r>
          </a:p>
        </p:txBody>
      </p:sp>
      <p:sp>
        <p:nvSpPr>
          <p:cNvPr id="8" name="Oval 7"/>
          <p:cNvSpPr/>
          <p:nvPr/>
        </p:nvSpPr>
        <p:spPr>
          <a:xfrm>
            <a:off x="731520" y="2240280"/>
            <a:ext cx="640080" cy="64008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2402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202020"/>
                </a:solidFill>
                <a:latin typeface="Microsoft YaHei"/>
              </a:rPr>
              <a:t>架构设计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060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06060"/>
                </a:solidFill>
                <a:latin typeface="Microsoft YaHei"/>
              </a:rPr>
              <a:t>双模式架构 · 关键决策 · 妥协与遗憾</a:t>
            </a:r>
          </a:p>
        </p:txBody>
      </p:sp>
      <p:sp>
        <p:nvSpPr>
          <p:cNvPr id="11" name="Oval 10"/>
          <p:cNvSpPr/>
          <p:nvPr/>
        </p:nvSpPr>
        <p:spPr>
          <a:xfrm>
            <a:off x="731520" y="3017520"/>
            <a:ext cx="640080" cy="64008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30175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202020"/>
                </a:solidFill>
                <a:latin typeface="Microsoft YaHei"/>
              </a:rPr>
              <a:t>问题全景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33832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06060"/>
                </a:solidFill>
                <a:latin typeface="Microsoft YaHei"/>
              </a:rPr>
              <a:t>人工 ~32 个 vs AI ~35 个，如何互补</a:t>
            </a:r>
          </a:p>
        </p:txBody>
      </p:sp>
      <p:sp>
        <p:nvSpPr>
          <p:cNvPr id="14" name="Oval 13"/>
          <p:cNvSpPr/>
          <p:nvPr/>
        </p:nvSpPr>
        <p:spPr>
          <a:xfrm>
            <a:off x="731520" y="3794760"/>
            <a:ext cx="640080" cy="64008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379476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202020"/>
                </a:solidFill>
                <a:latin typeface="Microsoft YaHei"/>
              </a:rPr>
              <a:t>人机协同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41605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06060"/>
                </a:solidFill>
                <a:latin typeface="Microsoft YaHei"/>
              </a:rPr>
              <a:t>4 个层次 · 分工矩阵 · 反模式 · 最佳实践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4572000"/>
            <a:ext cx="640080" cy="64008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45720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202020"/>
                </a:solidFill>
                <a:latin typeface="Microsoft YaHei"/>
              </a:rPr>
              <a:t>关键技术修复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493776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06060"/>
                </a:solidFill>
                <a:latin typeface="Microsoft YaHei"/>
              </a:rPr>
              <a:t>四层防卡死 · 重连时序 · 结算公式</a:t>
            </a:r>
          </a:p>
        </p:txBody>
      </p:sp>
      <p:sp>
        <p:nvSpPr>
          <p:cNvPr id="20" name="Oval 19"/>
          <p:cNvSpPr/>
          <p:nvPr/>
        </p:nvSpPr>
        <p:spPr>
          <a:xfrm>
            <a:off x="731520" y="5349240"/>
            <a:ext cx="640080" cy="64008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53492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202020"/>
                </a:solidFill>
                <a:latin typeface="Microsoft YaHei"/>
              </a:rPr>
              <a:t>经验与行动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45920" y="57150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06060"/>
                </a:solidFill>
                <a:latin typeface="Microsoft YaHei"/>
              </a:rPr>
              <a:t>核心结论 · 后续建议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0080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2 / 21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1A73E8"/>
                </a:solidFill>
                <a:latin typeface="Microsoft YaHei"/>
              </a:rPr>
              <a:t>一、项目背景：产品 + 技术栈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1247120" cy="36576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1A73E8"/>
                </a:solidFill>
                <a:latin typeface="Microsoft YaHei"/>
              </a:rPr>
              <a:t>产品简介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916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>
                <a:solidFill>
                  <a:srgbClr val="202020"/>
                </a:solidFill>
                <a:latin typeface="Microsoft YaHei"/>
              </a:rPr>
              <a:t>沟通牌：4 副牌 216 张，6 人 3v3 卡牌游戏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202020"/>
                </a:solidFill>
                <a:latin typeface="Microsoft YaHei"/>
              </a:rPr>
              <a:t>●  单机模式：本机 AI 对手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603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73E8"/>
                </a:solidFill>
                <a:latin typeface="Microsoft YaHei"/>
              </a:rPr>
              <a:t>●  联网对抗：WebSocket 实时对战  ← 本次重点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18872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1A73E8"/>
                </a:solidFill>
                <a:latin typeface="Microsoft YaHei"/>
              </a:rPr>
              <a:t>技术栈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0" y="1691640"/>
          <a:ext cx="54864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657600"/>
              </a:tblGrid>
              <a:tr h="457200">
                <a:tc>
                  <a:txBody>
                    <a:bodyPr lIns="50000" rIns="50000" tIns="20000" bIns="20000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层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50000" rIns="50000" tIns="20000" bIns="20000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技术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</a:tr>
              <a:tr h="457200"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客户端语言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Kotlin + Coroutines + Flow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客户端 UI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Android XML 布局（不使用 Compose）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457200"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客户端 WebSocket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OkHttp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服务端框架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Ktor + Netty + WebSockets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457200"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序列化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kotlinx.serialization (JSON)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构建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AGP 8.5 / Gradle 8.14 + 8.4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502920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1A73E8"/>
                </a:solidFill>
                <a:latin typeface="Microsoft YaHei"/>
              </a:rPr>
              <a:t>代码规模：共 90 个文件 / ~14,865 行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532120"/>
          <a:ext cx="1124712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457200">
                <a:tc>
                  <a:txBody>
                    <a:bodyPr lIns="50000" rIns="50000" tIns="20000" bIns="20000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客户端 Kotlin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50000" rIns="50000" tIns="20000" bIns="20000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客户端 XML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50000" rIns="50000" tIns="20000" bIns="20000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服务端 Kotlin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50000" rIns="50000" tIns="20000" bIns="20000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测试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</a:tr>
              <a:tr h="457200"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300">
                          <a:solidFill>
                            <a:srgbClr val="202020"/>
                          </a:solidFill>
                          <a:latin typeface="Microsoft YaHei"/>
                        </a:rPr>
                        <a:t>28 文件 · 8,909 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300">
                          <a:solidFill>
                            <a:srgbClr val="202020"/>
                          </a:solidFill>
                          <a:latin typeface="Microsoft YaHei"/>
                        </a:rPr>
                        <a:t>56 文件 · 3,279 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300">
                          <a:solidFill>
                            <a:srgbClr val="202020"/>
                          </a:solidFill>
                          <a:latin typeface="Microsoft YaHei"/>
                        </a:rPr>
                        <a:t>5 文件 · 2,161 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300">
                          <a:solidFill>
                            <a:srgbClr val="202020"/>
                          </a:solidFill>
                          <a:latin typeface="Microsoft YaHei"/>
                        </a:rPr>
                        <a:t>1 文件 · 516 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10789920" y="640080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3 / 21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1A73E8"/>
                </a:solidFill>
                <a:latin typeface="Microsoft YaHei"/>
              </a:rPr>
              <a:t>二、开发全貌：5 阶段 · 33 PR · 3 个月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1247120" cy="36576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73E8"/>
                </a:solidFill>
                <a:latin typeface="Microsoft YaHei"/>
              </a:rPr>
              <a:t>2026-02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128016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202020"/>
                </a:solidFill>
                <a:latin typeface="Microsoft YaHei"/>
              </a:rPr>
              <a:t>单机游戏开发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128016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606060"/>
                </a:solidFill>
                <a:latin typeface="Microsoft YaHei"/>
              </a:rPr>
              <a:t>PRs #1–14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7440" y="1691639"/>
            <a:ext cx="9144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06060"/>
                </a:solidFill>
                <a:latin typeface="Microsoft YaHei"/>
              </a:rPr>
              <a:t>游戏引擎 / 牌型规则 / AI / 结算 / 单机UI · 约11轮人工 UI 反馈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945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73E8"/>
                </a:solidFill>
                <a:latin typeface="Microsoft YaHei"/>
              </a:rPr>
              <a:t>2026-04-30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0" y="219456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202020"/>
                </a:solidFill>
                <a:latin typeface="Microsoft YaHei"/>
              </a:rPr>
              <a:t>联网模式首次完整实现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219456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606060"/>
                </a:solidFill>
                <a:latin typeface="Microsoft YaHei"/>
              </a:rPr>
              <a:t>PR #16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77440" y="2606040"/>
            <a:ext cx="9144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06060"/>
                </a:solidFill>
                <a:latin typeface="Microsoft YaHei"/>
              </a:rPr>
              <a:t>服务端 + 客户端网络层 + 联网UI · 一次性 6,529 行新增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1089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73E8"/>
                </a:solidFill>
                <a:latin typeface="Microsoft YaHei"/>
              </a:rPr>
              <a:t>2026-05-01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310896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202020"/>
                </a:solidFill>
                <a:latin typeface="Microsoft YaHei"/>
              </a:rPr>
              <a:t>构建与编译修复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0" y="310896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606060"/>
                </a:solidFill>
                <a:latin typeface="Microsoft YaHei"/>
              </a:rPr>
              <a:t>PRs #17–21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3520440"/>
            <a:ext cx="9144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06060"/>
                </a:solidFill>
                <a:latin typeface="Microsoft YaHei"/>
              </a:rPr>
              <a:t>CI 失败 / Gradle 缺失 / 编译错误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0233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73E8"/>
                </a:solidFill>
                <a:latin typeface="Microsoft YaHei"/>
              </a:rPr>
              <a:t>2026-05-03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7440" y="402336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202020"/>
                </a:solidFill>
                <a:latin typeface="Microsoft YaHei"/>
              </a:rPr>
              <a:t>部署与连通性修复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402336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606060"/>
                </a:solidFill>
                <a:latin typeface="Microsoft YaHei"/>
              </a:rPr>
              <a:t>PRs #22–31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40" y="4434840"/>
            <a:ext cx="9144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06060"/>
                </a:solidFill>
                <a:latin typeface="Microsoft YaHei"/>
              </a:rPr>
              <a:t>服务器URL / Android cleartext / 503 调试 / Lobby UI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9377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73E8"/>
                </a:solidFill>
                <a:latin typeface="Microsoft YaHei"/>
              </a:rPr>
              <a:t>2026-05-04~07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493776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202020"/>
                </a:solidFill>
                <a:latin typeface="Microsoft YaHei"/>
              </a:rPr>
              <a:t>游戏逻辑深度修复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0" y="493776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606060"/>
                </a:solidFill>
                <a:latin typeface="Microsoft YaHei"/>
              </a:rPr>
              <a:t>PRs #32–33 + 本次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77440" y="5349240"/>
            <a:ext cx="9144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06060"/>
                </a:solidFill>
                <a:latin typeface="Microsoft YaHei"/>
              </a:rPr>
              <a:t>AI 全量审查×4轮 / 8 次 commit / 50+ Bug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6035040"/>
            <a:ext cx="11247120" cy="640080"/>
          </a:xfrm>
          <a:prstGeom prst="roundRect">
            <a:avLst/>
          </a:prstGeom>
          <a:solidFill>
            <a:srgbClr val="F0F4FF"/>
          </a:solidFill>
          <a:ln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1A73E8"/>
                </a:solidFill>
                <a:latin typeface="Microsoft YaHei"/>
              </a:rPr>
              <a:t>总计：33 PR  ·  123 commit  ·  修复约 67 个问题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9920" y="640080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4 / 21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1A73E8"/>
                </a:solidFill>
                <a:latin typeface="Microsoft YaHei"/>
              </a:rPr>
              <a:t>三、架构设计：双模式共生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1247120" cy="36576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47120" cy="4846320"/>
          </a:xfrm>
          <a:prstGeom prst="rect">
            <a:avLst/>
          </a:prstGeom>
          <a:solidFill>
            <a:srgbClr val="F4F4F4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0000" rIns="150000" tIns="100000" bIns="100000"/>
          <a:lstStyle/>
          <a:p>
            <a:pPr algn="ctr"/>
            <a:r>
              <a:rPr sz="1200">
                <a:solidFill>
                  <a:srgbClr val="202020"/>
                </a:solidFill>
                <a:latin typeface="Consolas"/>
              </a:rPr>
              <a:t>┌─────────────────────────────────────────────────────────────┐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│  Android 客户端                                             │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│                                                             │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│   GameActivity (单机)  ←→  OnlineGameActivity (联网)        │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│                                                             │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│   engine/    CardRules · SettlementCalculator (共享规则)    │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│              GameEngine (单机) · MultiplayerGameEngine      │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│                                                             │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│   network/   NetworkManager  · RoomManager                  │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│              GameSyncManager (状态同步 / 版本号)            │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└─────────────────────────────────────────────────────────────┘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                       ▲   WebSocket /game (JSON)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                       ▼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┌─────────────────────────────────────────────────────────────┐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│  服务端 (Ktor + Netty)                                      │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│                                                             │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│   ServerRoomManager   房间生命周期 / AI 填充                │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│   ServerGameManager   权威状态 / AI 决策 / 30s 计时         │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│        每房间一把 Mutex · 三级 AI 回退 · 兜底推进           │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└─────────────────────────────────────────────────────────────┘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6217920"/>
            <a:ext cx="11247120" cy="457200"/>
          </a:xfrm>
          <a:prstGeom prst="round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</a:rPr>
              <a:t>核心原则：服务端权威  ·  客户端乐观响应  ·  全量状态 + version 同步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0080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5 / 21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1A73E8"/>
                </a:solidFill>
                <a:latin typeface="Microsoft YaHei"/>
              </a:rPr>
              <a:t>三、架构：关键决策 &amp; 遗憾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1247120" cy="36576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1A73E8"/>
                </a:solidFill>
                <a:latin typeface="Microsoft YaHei"/>
              </a:rPr>
              <a:t>关键架构决策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645920"/>
          <a:ext cx="1124712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657600"/>
                <a:gridCol w="5760720"/>
              </a:tblGrid>
              <a:tr h="420624">
                <a:tc>
                  <a:txBody>
                    <a:bodyPr lIns="50000" rIns="50000" tIns="20000" bIns="20000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决策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50000" rIns="50000" tIns="20000" bIns="20000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选择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50000" rIns="50000" tIns="20000" bIns="20000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理由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</a:tr>
              <a:tr h="420624"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状态同步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全量状态 + 单调 version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比增量简单，天然支持重连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并发模型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每房间 Mutex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串行化修改，广播在锁外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420624"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重连机制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sessionToken = playerId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30s 内无缝恢复游戏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AI 替补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isAISubstitute 标记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不删玩家槽，重连仍有效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02336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E53935"/>
                </a:solidFill>
                <a:latin typeface="Microsoft YaHei"/>
              </a:rPr>
              <a:t>架构妥协与遗憾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4480560"/>
          <a:ext cx="112471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7132320"/>
              </a:tblGrid>
              <a:tr h="457200">
                <a:tc>
                  <a:txBody>
                    <a:bodyPr lIns="50000" rIns="50000" tIns="20000" bIns="20000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遗憾</a:t>
                      </a:r>
                    </a:p>
                  </a:txBody>
                  <a:tcPr>
                    <a:solidFill>
                      <a:srgbClr val="E53935"/>
                    </a:solidFill>
                  </a:tcPr>
                </a:tc>
                <a:tc>
                  <a:txBody>
                    <a:bodyPr lIns="50000" rIns="50000" tIns="20000" bIns="20000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影响</a:t>
                      </a:r>
                    </a:p>
                  </a:txBody>
                  <a:tcPr>
                    <a:solidFill>
                      <a:srgbClr val="E53935"/>
                    </a:solidFill>
                  </a:tcPr>
                </a:tc>
              </a:tr>
              <a:tr h="457200"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⚠ 未提取 KMP 共享规则模块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CardRules 与服务端 canBeat 双份  →  后期出现 3 处不一致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⚠ 无协议版本号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客户端/服务端协议演进时无强制兼容检查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457200"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⚠ 无事件溯源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全量状态同步，历史行为无法追溯，调试困难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0789920" y="640080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6 / 21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1A73E8"/>
                </a:solidFill>
                <a:latin typeface="Microsoft YaHei"/>
              </a:rPr>
              <a:t>四、问题全景：人工 vs AI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1247120" cy="36576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3657600" cy="228600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🔴 人工测试 / 反馈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Microsoft YaHei"/>
              </a:rPr>
              <a:t>~32 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06324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icrosoft YaHei"/>
              </a:rPr>
              <a:t>UI体验  ·  部署环境  ·  运行时崩溃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371600"/>
            <a:ext cx="3657600" cy="2286000"/>
          </a:xfrm>
          <a:prstGeom prst="round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97680" y="155448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🔵 AI 静态审查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210312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Microsoft YaHei"/>
              </a:rPr>
              <a:t>~35 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306324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icrosoft YaHei"/>
              </a:rPr>
              <a:t>逻辑错误  ·  并发  ·  协议细节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1371600"/>
            <a:ext cx="3657600" cy="2286000"/>
          </a:xfrm>
          <a:prstGeom prst="round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0" y="155448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🟡 Code Review Bot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210312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Microsoft YaHei"/>
              </a:rPr>
              <a:t>2 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306324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icrosoft YaHei"/>
              </a:rPr>
              <a:t>PR 自动审查额外发现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114800"/>
            <a:ext cx="11338560" cy="2194560"/>
          </a:xfrm>
          <a:prstGeom prst="roundRect">
            <a:avLst/>
          </a:prstGeom>
          <a:solidFill>
            <a:srgbClr val="F0F4FF"/>
          </a:solidFill>
          <a:ln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42976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73E8"/>
                </a:solidFill>
                <a:latin typeface="Microsoft YaHei"/>
              </a:rPr>
              <a:t>核心发现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84632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202020"/>
                </a:solidFill>
                <a:latin typeface="Microsoft YaHei"/>
              </a:rPr>
              <a:t>人工看见「症状」，AI 挖出「根因」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44068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0">
                <a:solidFill>
                  <a:srgbClr val="606060"/>
                </a:solidFill>
                <a:latin typeface="Microsoft YaHei"/>
              </a:rPr>
              <a:t>两者几乎不重叠，而是互补关系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8978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06060"/>
                </a:solidFill>
                <a:latin typeface="Microsoft YaHei"/>
              </a:rPr>
              <a:t>→ 接下来逐阶段展开详情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0" y="640080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7 / 21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1A73E8"/>
                </a:solidFill>
                <a:latin typeface="Microsoft YaHei"/>
              </a:rPr>
              <a:t>四、人工发现 (1/3)：单机阶段（11 个）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1247120" cy="36576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88720"/>
          <a:ext cx="1124712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5486400"/>
                <a:gridCol w="5212080"/>
              </a:tblGrid>
              <a:tr h="426720">
                <a:tc>
                  <a:txBody>
                    <a:bodyPr lIns="50000" rIns="50000" tIns="20000" bIns="20000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#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50000" rIns="50000" tIns="20000" bIns="20000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症状 / 反馈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50000" rIns="50000" tIns="20000" bIns="20000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对应修复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</a:tr>
              <a:tr h="426720"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看不到每个玩家打出的牌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重新设计 UI，每玩家槽显示出牌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玩家 ID 映射错位，玩家2 不显示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修正 ID 偏移（从 1 而非 2 开始）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426720"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队伍积分只显示个人，非全队合计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改为 totalCollectedScore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4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炸弹牌重叠比例不对，显示拥挤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调整为 20% 重叠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426720"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AI 动不动打炸弹，太激进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炸弹作为最后手段策略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6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手牌顺序乱，炸弹应排在前面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按炸弹优先排序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426720"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更新 APK 提示签名不匹配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添加固定 debug keystore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8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重构后卡片圆角消失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恢复 10dp 圆角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426720"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五子棋图标在旧 Android 崩溃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修复 API &lt; 26 矢量图兼容性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字体大小不统一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统一为 14sp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426720"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布局太拥挤，信息看不清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两行手牌 / 水平玩家排列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789920" y="640080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8 / 21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1A73E8"/>
                </a:solidFill>
                <a:latin typeface="Microsoft YaHei"/>
              </a:rPr>
              <a:t>四、人工发现 (2/3)：部署阶段（9 个）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1247120" cy="36576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88720"/>
          <a:ext cx="1124712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5486400"/>
                <a:gridCol w="5212080"/>
              </a:tblGrid>
              <a:tr h="457200">
                <a:tc>
                  <a:txBody>
                    <a:bodyPr lIns="50000" rIns="50000" tIns="20000" bIns="20000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#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50000" rIns="50000" tIns="20000" bIns="20000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症状 / 反馈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50000" rIns="50000" tIns="20000" bIns="20000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对应修复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</a:tr>
              <a:tr h="457200"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CI 失败：服务端被 Android 构建拉入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从 settings.gradle 移除服务端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13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服务端无 Gradle Wrapper，无法启动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补充 gradlew + wrapper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457200"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联网模块编译错误（3 处 API 错误）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修复 CardGroup / GameResult / ConnectionState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15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服务端 JVM 工具链配置错误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修复 toolchain 配置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457200"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ChatAdapter 引用不存在的 View 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修正为实际存在的 tvSender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17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部署腾讯云后连接不上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更新服务器 URL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457200"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Android 9+ cleartext 连接被拒绝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添加 network_security_config.xml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19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连接返回 503，无法诊断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添加健康检查接口 + 详细日志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457200"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「开始游戏」按钮让用户困惑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改为「单机游戏」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789920" y="640080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9 / 21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1A73E8"/>
                </a:solidFill>
                <a:latin typeface="Microsoft YaHei"/>
              </a:rPr>
              <a:t>四、人工发现 (3/3)：联网游戏阶段（12 个）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1247120" cy="36576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88720"/>
          <a:ext cx="11247120" cy="521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5943600"/>
                <a:gridCol w="4754880"/>
              </a:tblGrid>
              <a:tr h="400929">
                <a:tc>
                  <a:txBody>
                    <a:bodyPr lIns="50000" rIns="50000" tIns="20000" bIns="20000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#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50000" rIns="50000" tIns="20000" bIns="20000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症状 / 反馈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50000" rIns="50000" tIns="20000" bIns="20000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对应修复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</a:tr>
              <a:tr h="400929"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100">
                          <a:solidFill>
                            <a:srgbClr val="202020"/>
                          </a:solidFill>
                          <a:latin typeface="Microsoft YaHei"/>
                        </a:rPr>
                        <a:t>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100">
                          <a:solidFill>
                            <a:srgbClr val="202020"/>
                          </a:solidFill>
                          <a:latin typeface="Microsoft YaHei"/>
                        </a:rPr>
                        <a:t>loading 遮罩断线后永远不消失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100">
                          <a:solidFill>
                            <a:srgbClr val="202020"/>
                          </a:solidFill>
                          <a:latin typeface="Microsoft YaHei"/>
                        </a:rPr>
                        <a:t>断线后直接反馈错误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929"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100">
                          <a:solidFill>
                            <a:srgbClr val="202020"/>
                          </a:solidFill>
                          <a:latin typeface="Microsoft YaHei"/>
                        </a:rPr>
                        <a:t>22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100">
                          <a:solidFill>
                            <a:srgbClr val="202020"/>
                          </a:solidFill>
                          <a:latin typeface="Microsoft YaHei"/>
                        </a:rPr>
                        <a:t>单个中文昵称被 2 字符限制拒绝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100">
                          <a:solidFill>
                            <a:srgbClr val="202020"/>
                          </a:solidFill>
                          <a:latin typeface="Microsoft YaHei"/>
                        </a:rPr>
                        <a:t>移除最低长度限制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400929"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100">
                          <a:solidFill>
                            <a:srgbClr val="202020"/>
                          </a:solidFill>
                          <a:latin typeface="Microsoft YaHe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100">
                          <a:solidFill>
                            <a:srgbClr val="202020"/>
                          </a:solidFill>
                          <a:latin typeface="Microsoft YaHei"/>
                        </a:rPr>
                        <a:t>进入大厅崩溃（CardSuit 枚举不匹配）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100">
                          <a:solidFill>
                            <a:srgbClr val="202020"/>
                          </a:solidFill>
                          <a:latin typeface="Microsoft YaHei"/>
                        </a:rPr>
                        <a:t>统一枚举值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929"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100">
                          <a:solidFill>
                            <a:srgbClr val="202020"/>
                          </a:solidFill>
                          <a:latin typeface="Microsoft YaHei"/>
                        </a:rPr>
                        <a:t>24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100">
                          <a:solidFill>
                            <a:srgbClr val="202020"/>
                          </a:solidFill>
                          <a:latin typeface="Microsoft YaHei"/>
                        </a:rPr>
                        <a:t>AI 玩家显示为离线状态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100">
                          <a:solidFill>
                            <a:srgbClr val="202020"/>
                          </a:solidFill>
                          <a:latin typeface="Microsoft YaHei"/>
                        </a:rPr>
                        <a:t>AI 默认 isConnected=true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400929"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100">
                          <a:solidFill>
                            <a:srgbClr val="202020"/>
                          </a:solidFill>
                          <a:latin typeface="Microsoft YaHe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100">
                          <a:solidFill>
                            <a:srgbClr val="202020"/>
                          </a:solidFill>
                          <a:latin typeface="Microsoft YaHei"/>
                        </a:rPr>
                        <a:t>房间内没有踢人按钮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100">
                          <a:solidFill>
                            <a:srgbClr val="202020"/>
                          </a:solidFill>
                          <a:latin typeface="Microsoft YaHei"/>
                        </a:rPr>
                        <a:t>添加房主踢人功能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929"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100">
                          <a:solidFill>
                            <a:srgbClr val="202020"/>
                          </a:solidFill>
                          <a:latin typeface="Microsoft YaHei"/>
                        </a:rPr>
                        <a:t>26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100">
                          <a:solidFill>
                            <a:srgbClr val="202020"/>
                          </a:solidFill>
                          <a:latin typeface="Microsoft YaHei"/>
                        </a:rPr>
                        <a:t>看不到有哪些房间可加入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100">
                          <a:solidFill>
                            <a:srgbClr val="202020"/>
                          </a:solidFill>
                          <a:latin typeface="Microsoft YaHei"/>
                        </a:rPr>
                        <a:t>添加房间列表功能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400929"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100">
                          <a:solidFill>
                            <a:srgbClr val="202020"/>
                          </a:solidFill>
                          <a:latin typeface="Microsoft YaHei"/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100">
                          <a:solidFill>
                            <a:srgbClr val="202020"/>
                          </a:solidFill>
                          <a:latin typeface="Microsoft YaHei"/>
                        </a:rPr>
                        <a:t>📷 等待电脑54出牌，长时间卡死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100">
                          <a:solidFill>
                            <a:srgbClr val="202020"/>
                          </a:solidFill>
                          <a:latin typeface="Microsoft YaHei"/>
                        </a:rPr>
                        <a:t>canBeat 炸弹逻辑 + AI 回退链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929"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100">
                          <a:solidFill>
                            <a:srgbClr val="202020"/>
                          </a:solidFill>
                          <a:latin typeface="Microsoft YaHei"/>
                        </a:rPr>
                        <a:t>28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100">
                          <a:solidFill>
                            <a:srgbClr val="202020"/>
                          </a:solidFill>
                          <a:latin typeface="Microsoft YaHei"/>
                        </a:rPr>
                        <a:t>📷 修复后依然卡死（反复 3 次）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100">
                          <a:solidFill>
                            <a:srgbClr val="202020"/>
                          </a:solidFill>
                          <a:latin typeface="Microsoft YaHei"/>
                        </a:rPr>
                        <a:t>并发 Mutex + 兜底推进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400929"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100">
                          <a:solidFill>
                            <a:srgbClr val="202020"/>
                          </a:solidFill>
                          <a:latin typeface="Microsoft YaHei"/>
                        </a:rPr>
                        <a:t>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100">
                          <a:solidFill>
                            <a:srgbClr val="202020"/>
                          </a:solidFill>
                          <a:latin typeface="Microsoft YaHei"/>
                        </a:rPr>
                        <a:t>📷 已收分全是 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100">
                          <a:solidFill>
                            <a:srgbClr val="202020"/>
                          </a:solidFill>
                          <a:latin typeface="Microsoft YaHei"/>
                        </a:rPr>
                        <a:t>playerScores 追踪 + 结算公式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929"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100">
                          <a:solidFill>
                            <a:srgbClr val="202020"/>
                          </a:solidFill>
                          <a:latin typeface="Microsoft YaHei"/>
                        </a:rPr>
                        <a:t>30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100">
                          <a:solidFill>
                            <a:srgbClr val="202020"/>
                          </a:solidFill>
                          <a:latin typeface="Microsoft YaHei"/>
                        </a:rPr>
                        <a:t>反复修复反复复现 → 触发全量自查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100">
                          <a:solidFill>
                            <a:srgbClr val="202020"/>
                          </a:solidFill>
                          <a:latin typeface="Microsoft YaHei"/>
                        </a:rPr>
                        <a:t>4 轮 AI 审查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400929"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100">
                          <a:solidFill>
                            <a:srgbClr val="202020"/>
                          </a:solidFill>
                          <a:latin typeface="Microsoft YaHei"/>
                        </a:rPr>
                        <a:t>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100">
                          <a:solidFill>
                            <a:srgbClr val="202020"/>
                          </a:solidFill>
                          <a:latin typeface="Microsoft YaHei"/>
                        </a:rPr>
                        <a:t>[Bot P1] 断线重连遮罩永久卡住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100">
                          <a:solidFill>
                            <a:srgbClr val="202020"/>
                          </a:solidFill>
                          <a:latin typeface="Microsoft YaHei"/>
                        </a:rPr>
                        <a:t>修复重连 UI 路径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932"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100">
                          <a:solidFill>
                            <a:srgbClr val="202020"/>
                          </a:solidFill>
                          <a:latin typeface="Microsoft YaHei"/>
                        </a:rPr>
                        <a:t>32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100">
                          <a:solidFill>
                            <a:srgbClr val="202020"/>
                          </a:solidFill>
                          <a:latin typeface="Microsoft YaHei"/>
                        </a:rPr>
                        <a:t>[Bot P2] UI按房间名加入但服务端不支持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100">
                          <a:solidFill>
                            <a:srgbClr val="202020"/>
                          </a:solidFill>
                          <a:latin typeface="Microsoft YaHei"/>
                        </a:rPr>
                        <a:t>待修复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789920" y="640080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10 / 21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1A73E8"/>
                </a:solidFill>
                <a:latin typeface="Microsoft YaHei"/>
              </a:rPr>
              <a:t>四、AI 发现：~35 个，4 轮审查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1247120" cy="36576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73E8"/>
                </a:solidFill>
                <a:latin typeface="Microsoft YaHei"/>
              </a:rPr>
              <a:t>第 1 轮：综合审查（~20 个）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600200"/>
          <a:ext cx="1124712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8503920"/>
              </a:tblGrid>
              <a:tr h="350520">
                <a:tc>
                  <a:txBody>
                    <a:bodyPr lIns="50000" rIns="50000" tIns="20000" bIns="20000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类别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50000" rIns="50000" tIns="20000" bIns="20000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主要问题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</a:tr>
              <a:tr h="350520"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协议 / 序列化 (4)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sealed class 缺 classDiscriminator；枚举值不对齐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会话 / 重连 (3)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sessionToken 未设置；leaveRoom 未清空 token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350520"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房间状态机 (4)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未检查 WAITING；退出不补 AI；重复加入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UI / 状态同步 (6)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seatIndex%2 误算；初始化后未刷新；onDestroy 未 guard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350520"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其他 (3)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applyState 版本反向；senderId 不稳定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93192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73E8"/>
                </a:solidFill>
                <a:latin typeface="Microsoft YaHei"/>
              </a:rPr>
              <a:t>第 2-3 轮：深层审查（~8 个）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34340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赢家未设为下轮首家  ·  ArrayList 并发修改  ·  AI 回退链缺失  ·  collectedScore 硬编码 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029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E53935"/>
                </a:solidFill>
                <a:latin typeface="Microsoft YaHei"/>
              </a:rPr>
              <a:t>第 4 轮：根因专项（~7 个）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44068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WebSocket CONNECTING send() 静默失败  ·  多协程无锁并发写  ·  playerScores 整体缺失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85216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结算公式漏算输方未走完已收分  ·  两端逻辑不一致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40080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11 / 21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1A73E8"/>
                </a:solidFill>
                <a:latin typeface="Microsoft YaHei"/>
              </a:rPr>
              <a:t>五、人机协同：4 个层次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1247120" cy="36576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1124712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606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606060"/>
                </a:solidFill>
                <a:latin typeface="Microsoft YaHei"/>
              </a:rPr>
              <a:t>Level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68880" y="128016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202020"/>
                </a:solidFill>
                <a:latin typeface="Microsoft YaHei"/>
              </a:rPr>
              <a:t>AI 执行人工指令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128016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0">
                <a:solidFill>
                  <a:srgbClr val="606060"/>
                </a:solidFill>
                <a:latin typeface="Microsoft YaHei"/>
              </a:rPr>
              <a:t>传统：人主导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9164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人工写完整指令 → AI 执行 → 等下一条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01168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06060"/>
                </a:solidFill>
                <a:latin typeface="Microsoft YaHei"/>
              </a:rPr>
              <a:t>缺点：人工成为瓶颈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514600"/>
            <a:ext cx="1124712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202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60604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202020"/>
                </a:solidFill>
                <a:latin typeface="Microsoft YaHei"/>
              </a:rPr>
              <a:t>Level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0" y="260604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202020"/>
                </a:solidFill>
                <a:latin typeface="Microsoft YaHei"/>
              </a:rPr>
              <a:t>AI 提建议，人工决策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260604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0">
                <a:solidFill>
                  <a:srgbClr val="202020"/>
                </a:solidFill>
                <a:latin typeface="Microsoft YaHei"/>
              </a:rPr>
              <a:t>审稿模式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01752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AI 输出方案+备选 → 人工选择/驳回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33756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06060"/>
                </a:solidFill>
                <a:latin typeface="Microsoft YaHei"/>
              </a:rPr>
              <a:t>优点：人工不动手，但对质量负责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840480"/>
            <a:ext cx="11247120" cy="1188720"/>
          </a:xfrm>
          <a:prstGeom prst="roundRect">
            <a:avLst/>
          </a:prstGeom>
          <a:solidFill>
            <a:srgbClr val="F0F4FF"/>
          </a:solidFill>
          <a:ln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93192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1A73E8"/>
                </a:solidFill>
                <a:latin typeface="Microsoft YaHei"/>
              </a:rPr>
              <a:t>Level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80" y="393192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202020"/>
                </a:solidFill>
                <a:latin typeface="Microsoft YaHei"/>
              </a:rPr>
              <a:t>人工反馈现象，AI 自主排查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393192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0">
                <a:solidFill>
                  <a:srgbClr val="1A73E8"/>
                </a:solidFill>
                <a:latin typeface="Microsoft YaHei"/>
              </a:rPr>
              <a:t>本项目大量使用 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34340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人工：「还卡住」 / 截图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66344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06060"/>
                </a:solidFill>
                <a:latin typeface="Microsoft YaHei"/>
              </a:rPr>
              <a:t>AI：看代码 + 推理 + 多轮自查 + 修复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166360"/>
            <a:ext cx="11247120" cy="1188720"/>
          </a:xfrm>
          <a:prstGeom prst="roundRect">
            <a:avLst/>
          </a:prstGeom>
          <a:solidFill>
            <a:srgbClr val="F0F4FF"/>
          </a:solidFill>
          <a:ln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25780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1A73E8"/>
                </a:solidFill>
                <a:latin typeface="Microsoft YaHei"/>
              </a:rPr>
              <a:t>Level 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68880" y="52578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202020"/>
                </a:solidFill>
                <a:latin typeface="Microsoft YaHei"/>
              </a:rPr>
              <a:t>AI 主动审查，人工验证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525780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0">
                <a:solidFill>
                  <a:srgbClr val="1A73E8"/>
                </a:solidFill>
                <a:latin typeface="Microsoft YaHei"/>
              </a:rPr>
              <a:t>本项目最高效模式 ★★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66928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人工：「自查自纠所有问题」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98932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06060"/>
                </a:solidFill>
                <a:latin typeface="Microsoft YaHei"/>
              </a:rPr>
              <a:t>AI：全量扫描 + 清单 + 修复  ·  人工：真机验证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89920" y="640080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12 / 21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1A73E8"/>
                </a:solidFill>
                <a:latin typeface="Microsoft YaHei"/>
              </a:rPr>
              <a:t>五、实际分工矩阵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1247120" cy="36576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88720"/>
          <a:ext cx="1124712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371600"/>
                <a:gridCol w="1371600"/>
                <a:gridCol w="6217920"/>
              </a:tblGrid>
              <a:tr h="568960">
                <a:tc>
                  <a:txBody>
                    <a:bodyPr lIns="50000" rIns="50000" tIns="20000" bIns="20000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icrosoft YaHei"/>
                        </a:rPr>
                        <a:t>任务类型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50000" rIns="50000" tIns="20000" bIns="20000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icrosoft YaHei"/>
                        </a:rPr>
                        <a:t>人工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50000" rIns="50000" tIns="20000" bIns="20000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icrosoft YaHei"/>
                        </a:rPr>
                        <a:t>AI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50000" rIns="50000" tIns="20000" bIns="20000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icrosoft YaHei"/>
                        </a:rPr>
                        <a:t>协同方式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</a:tr>
              <a:tr h="568960"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300">
                          <a:solidFill>
                            <a:srgbClr val="202020"/>
                          </a:solidFill>
                          <a:latin typeface="Microsoft YaHei"/>
                        </a:rPr>
                        <a:t>需求定义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300">
                          <a:solidFill>
                            <a:srgbClr val="202020"/>
                          </a:solidFill>
                          <a:latin typeface="Microsoft YaHe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300">
                          <a:solidFill>
                            <a:srgbClr val="202020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300">
                          <a:solidFill>
                            <a:srgbClr val="202020"/>
                          </a:solidFill>
                          <a:latin typeface="Microsoft YaHei"/>
                        </a:rPr>
                        <a:t>人工口述 / 截图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8960"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300">
                          <a:solidFill>
                            <a:srgbClr val="202020"/>
                          </a:solidFill>
                          <a:latin typeface="Microsoft YaHei"/>
                        </a:rPr>
                        <a:t>架构设计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300">
                          <a:solidFill>
                            <a:srgbClr val="202020"/>
                          </a:solidFill>
                          <a:latin typeface="Microsoft YaHei"/>
                        </a:rPr>
                        <a:t>70%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300">
                          <a:solidFill>
                            <a:srgbClr val="202020"/>
                          </a:solidFill>
                          <a:latin typeface="Microsoft YaHei"/>
                        </a:rPr>
                        <a:t>30%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300">
                          <a:solidFill>
                            <a:srgbClr val="202020"/>
                          </a:solidFill>
                          <a:latin typeface="Microsoft YaHei"/>
                        </a:rPr>
                        <a:t>人工拍板，AI 提方案对比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568960"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300">
                          <a:solidFill>
                            <a:srgbClr val="202020"/>
                          </a:solidFill>
                          <a:latin typeface="Microsoft YaHei"/>
                        </a:rPr>
                        <a:t>编码实现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300">
                          <a:solidFill>
                            <a:srgbClr val="202020"/>
                          </a:solidFill>
                          <a:latin typeface="Microsoft YaHei"/>
                        </a:rPr>
                        <a:t>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300">
                          <a:solidFill>
                            <a:srgbClr val="202020"/>
                          </a:solidFill>
                          <a:latin typeface="Microsoft YaHei"/>
                        </a:rPr>
                        <a:t>95%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300">
                          <a:solidFill>
                            <a:srgbClr val="202020"/>
                          </a:solidFill>
                          <a:latin typeface="Microsoft YaHei"/>
                        </a:rPr>
                        <a:t>AI 主导，人工修正方向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8960"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300">
                          <a:solidFill>
                            <a:srgbClr val="202020"/>
                          </a:solidFill>
                          <a:latin typeface="Microsoft YaHei"/>
                        </a:rPr>
                        <a:t>UI 调试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300">
                          <a:solidFill>
                            <a:srgbClr val="202020"/>
                          </a:solidFill>
                          <a:latin typeface="Microsoft YaHei"/>
                        </a:rPr>
                        <a:t>60%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300">
                          <a:solidFill>
                            <a:srgbClr val="202020"/>
                          </a:solidFill>
                          <a:latin typeface="Microsoft YaHei"/>
                        </a:rPr>
                        <a:t>40%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300">
                          <a:solidFill>
                            <a:srgbClr val="202020"/>
                          </a:solidFill>
                          <a:latin typeface="Microsoft YaHei"/>
                        </a:rPr>
                        <a:t>人工真机截图，AI 改代码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568960"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300">
                          <a:solidFill>
                            <a:srgbClr val="202020"/>
                          </a:solidFill>
                          <a:latin typeface="Microsoft YaHei"/>
                        </a:rPr>
                        <a:t>逻辑 Bug 排查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300">
                          <a:solidFill>
                            <a:srgbClr val="202020"/>
                          </a:solidFill>
                          <a:latin typeface="Microsoft YaHei"/>
                        </a:rPr>
                        <a:t>20%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300">
                          <a:solidFill>
                            <a:srgbClr val="202020"/>
                          </a:solidFill>
                          <a:latin typeface="Microsoft YaHei"/>
                        </a:rPr>
                        <a:t>80%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300">
                          <a:solidFill>
                            <a:srgbClr val="202020"/>
                          </a:solidFill>
                          <a:latin typeface="Microsoft YaHei"/>
                        </a:rPr>
                        <a:t>人工提症状，AI 挖根因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8960"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300">
                          <a:solidFill>
                            <a:srgbClr val="202020"/>
                          </a:solidFill>
                          <a:latin typeface="Microsoft YaHei"/>
                        </a:rPr>
                        <a:t>部署/网络问题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300">
                          <a:solidFill>
                            <a:srgbClr val="202020"/>
                          </a:solidFill>
                          <a:latin typeface="Microsoft YaHei"/>
                        </a:rPr>
                        <a:t>80%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300">
                          <a:solidFill>
                            <a:srgbClr val="202020"/>
                          </a:solidFill>
                          <a:latin typeface="Microsoft YaHei"/>
                        </a:rPr>
                        <a:t>20%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300">
                          <a:solidFill>
                            <a:srgbClr val="202020"/>
                          </a:solidFill>
                          <a:latin typeface="Microsoft YaHei"/>
                        </a:rPr>
                        <a:t>人工诊断环境，AI 改配置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568960"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300">
                          <a:solidFill>
                            <a:srgbClr val="202020"/>
                          </a:solidFill>
                          <a:latin typeface="Microsoft YaHei"/>
                        </a:rPr>
                        <a:t>文档编写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300">
                          <a:solidFill>
                            <a:srgbClr val="202020"/>
                          </a:solidFill>
                          <a:latin typeface="Microsoft YaHei"/>
                        </a:rPr>
                        <a:t>10%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300">
                          <a:solidFill>
                            <a:srgbClr val="202020"/>
                          </a:solidFill>
                          <a:latin typeface="Microsoft YaHei"/>
                        </a:rPr>
                        <a:t>90%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300">
                          <a:solidFill>
                            <a:srgbClr val="202020"/>
                          </a:solidFill>
                          <a:latin typeface="Microsoft YaHei"/>
                        </a:rPr>
                        <a:t>AI 起草，人工指出遗漏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8960"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300">
                          <a:solidFill>
                            <a:srgbClr val="202020"/>
                          </a:solidFill>
                          <a:latin typeface="Microsoft YaHei"/>
                        </a:rPr>
                        <a:t>代码审查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300">
                          <a:solidFill>
                            <a:srgbClr val="202020"/>
                          </a:solidFill>
                          <a:latin typeface="Microsoft YaHei"/>
                        </a:rPr>
                        <a:t>30%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300">
                          <a:solidFill>
                            <a:srgbClr val="202020"/>
                          </a:solidFill>
                          <a:latin typeface="Microsoft YaHei"/>
                        </a:rPr>
                        <a:t>70%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300">
                          <a:solidFill>
                            <a:srgbClr val="202020"/>
                          </a:solidFill>
                          <a:latin typeface="Microsoft YaHei"/>
                        </a:rPr>
                        <a:t>AI 全量扫描 + 人工 PR review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789920" y="640080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13 / 21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1A73E8"/>
                </a:solidFill>
                <a:latin typeface="Microsoft YaHei"/>
              </a:rPr>
              <a:t>五、AI 优势 vs 人工不可替代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1247120" cy="36576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2E7D32"/>
                </a:solidFill>
                <a:latin typeface="Microsoft YaHei"/>
              </a:rPr>
              <a:t>✅ AI 显著优于人工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691640"/>
          <a:ext cx="54864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657600"/>
              </a:tblGrid>
              <a:tr h="512064">
                <a:tc>
                  <a:txBody>
                    <a:bodyPr lIns="50000" rIns="50000" tIns="20000" bIns="20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场景</a:t>
                      </a:r>
                    </a:p>
                  </a:txBody>
                  <a:tcPr>
                    <a:solidFill>
                      <a:srgbClr val="2E7D32"/>
                    </a:solidFill>
                  </a:tcPr>
                </a:tc>
                <a:tc>
                  <a:txBody>
                    <a:bodyPr lIns="50000" rIns="50000" tIns="20000" bIns="20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说明</a:t>
                      </a:r>
                    </a:p>
                  </a:txBody>
                  <a:tcPr>
                    <a:solidFill>
                      <a:srgbClr val="2E7D32"/>
                    </a:solidFill>
                  </a:tcPr>
                </a:tc>
              </a:tr>
              <a:tr h="512064"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100">
                          <a:solidFill>
                            <a:srgbClr val="202020"/>
                          </a:solidFill>
                          <a:latin typeface="Microsoft YaHei"/>
                        </a:rPr>
                        <a:t>全量代码审查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100">
                          <a:solidFill>
                            <a:srgbClr val="202020"/>
                          </a:solidFill>
                          <a:latin typeface="Microsoft YaHei"/>
                        </a:rPr>
                        <a:t>单次 35 个问题，覆盖 90 个文件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100">
                          <a:solidFill>
                            <a:srgbClr val="202020"/>
                          </a:solidFill>
                          <a:latin typeface="Microsoft YaHei"/>
                        </a:rPr>
                        <a:t>跨文件链路追踪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100">
                          <a:solidFill>
                            <a:srgbClr val="202020"/>
                          </a:solidFill>
                          <a:latin typeface="Microsoft YaHei"/>
                        </a:rPr>
                        <a:t>客户端到服务端的完整调用链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512064"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100">
                          <a:solidFill>
                            <a:srgbClr val="202020"/>
                          </a:solidFill>
                          <a:latin typeface="Microsoft YaHei"/>
                        </a:rPr>
                        <a:t>重复模式识别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100">
                          <a:solidFill>
                            <a:srgbClr val="202020"/>
                          </a:solidFill>
                          <a:latin typeface="Microsoft YaHei"/>
                        </a:rPr>
                        <a:t>5 处类似并发问题一次发现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100">
                          <a:solidFill>
                            <a:srgbClr val="202020"/>
                          </a:solidFill>
                          <a:latin typeface="Microsoft YaHei"/>
                        </a:rPr>
                        <a:t>测试用例生成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100">
                          <a:solidFill>
                            <a:srgbClr val="202020"/>
                          </a:solidFill>
                          <a:latin typeface="Microsoft YaHei"/>
                        </a:rPr>
                        <a:t>15 个结算用例自动覆盖边界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0" y="118872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E53935"/>
                </a:solidFill>
                <a:latin typeface="Microsoft YaHei"/>
              </a:rPr>
              <a:t>❌ 人工不可替代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0" y="1691640"/>
          <a:ext cx="54864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657600"/>
              </a:tblGrid>
              <a:tr h="512064">
                <a:tc>
                  <a:txBody>
                    <a:bodyPr lIns="50000" rIns="50000" tIns="20000" bIns="20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场景</a:t>
                      </a:r>
                    </a:p>
                  </a:txBody>
                  <a:tcPr>
                    <a:solidFill>
                      <a:srgbClr val="E53935"/>
                    </a:solidFill>
                  </a:tcPr>
                </a:tc>
                <a:tc>
                  <a:txBody>
                    <a:bodyPr lIns="50000" rIns="50000" tIns="20000" bIns="20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原因</a:t>
                      </a:r>
                    </a:p>
                  </a:txBody>
                  <a:tcPr>
                    <a:solidFill>
                      <a:srgbClr val="E53935"/>
                    </a:solidFill>
                  </a:tcPr>
                </a:tc>
              </a:tr>
              <a:tr h="512064"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100">
                          <a:solidFill>
                            <a:srgbClr val="202020"/>
                          </a:solidFill>
                          <a:latin typeface="Microsoft YaHei"/>
                        </a:rPr>
                        <a:t>真机环境验证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100">
                          <a:solidFill>
                            <a:srgbClr val="202020"/>
                          </a:solidFill>
                          <a:latin typeface="Microsoft YaHei"/>
                        </a:rPr>
                        <a:t>Android cleartext / 503 错误 AI 看不见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100">
                          <a:solidFill>
                            <a:srgbClr val="202020"/>
                          </a:solidFill>
                          <a:latin typeface="Microsoft YaHei"/>
                        </a:rPr>
                        <a:t>时序竞争复现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100">
                          <a:solidFill>
                            <a:srgbClr val="202020"/>
                          </a:solidFill>
                          <a:latin typeface="Microsoft YaHei"/>
                        </a:rPr>
                        <a:t>网络抖动 / 并发，需真机才能复现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512064"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100">
                          <a:solidFill>
                            <a:srgbClr val="202020"/>
                          </a:solidFill>
                          <a:latin typeface="Microsoft YaHei"/>
                        </a:rPr>
                        <a:t>用户体验判断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100">
                          <a:solidFill>
                            <a:srgbClr val="202020"/>
                          </a:solidFill>
                          <a:latin typeface="Microsoft YaHei"/>
                        </a:rPr>
                        <a:t>「布局太挤」AI 无视觉感知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100">
                          <a:solidFill>
                            <a:srgbClr val="202020"/>
                          </a:solidFill>
                          <a:latin typeface="Microsoft YaHei"/>
                        </a:rPr>
                        <a:t>部署 &amp; 业务决策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100">
                          <a:solidFill>
                            <a:srgbClr val="202020"/>
                          </a:solidFill>
                          <a:latin typeface="Microsoft YaHei"/>
                        </a:rPr>
                        <a:t>服务器选择 / 密钥 / 业务规则拍板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457200" y="4846320"/>
            <a:ext cx="11338560" cy="1554480"/>
          </a:xfrm>
          <a:prstGeom prst="roundRect">
            <a:avLst/>
          </a:prstGeom>
          <a:solidFill>
            <a:srgbClr val="F0F4FF"/>
          </a:solidFill>
          <a:ln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0292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1A73E8"/>
                </a:solidFill>
                <a:latin typeface="Microsoft YaHei"/>
              </a:rPr>
              <a:t>💡 关键洞察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4864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>
                <a:solidFill>
                  <a:srgbClr val="202020"/>
                </a:solidFill>
                <a:latin typeface="Microsoft YaHei"/>
              </a:rPr>
              <a:t>AI 静态分析 vs 人工动态验证 — 二者覆盖的 Bug 类型几乎不重叠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8978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606060"/>
                </a:solidFill>
                <a:latin typeface="Microsoft YaHei"/>
              </a:rPr>
              <a:t>→ 任何只有一方参与的流程，都会漏掉至少 40% 的问题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40080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14 / 21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1A73E8"/>
                </a:solidFill>
                <a:latin typeface="Microsoft YaHei"/>
              </a:rPr>
              <a:t>五、协同反模式（要避免）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1247120" cy="36576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24712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4114800"/>
                <a:gridCol w="4846320"/>
              </a:tblGrid>
              <a:tr h="609600">
                <a:tc>
                  <a:txBody>
                    <a:bodyPr lIns="50000" rIns="50000" tIns="20000" bIns="20000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</a:rPr>
                        <a:t>反模式</a:t>
                      </a:r>
                    </a:p>
                  </a:txBody>
                  <a:tcPr>
                    <a:solidFill>
                      <a:srgbClr val="E53935"/>
                    </a:solidFill>
                  </a:tcPr>
                </a:tc>
                <a:tc>
                  <a:txBody>
                    <a:bodyPr lIns="50000" rIns="50000" tIns="20000" bIns="20000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</a:rPr>
                        <a:t>表现</a:t>
                      </a:r>
                    </a:p>
                  </a:txBody>
                  <a:tcPr>
                    <a:solidFill>
                      <a:srgbClr val="E53935"/>
                    </a:solidFill>
                  </a:tcPr>
                </a:tc>
                <a:tc>
                  <a:txBody>
                    <a:bodyPr lIns="50000" rIns="50000" tIns="20000" bIns="20000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</a:rPr>
                        <a:t>后果</a:t>
                      </a:r>
                    </a:p>
                  </a:txBody>
                  <a:tcPr>
                    <a:solidFill>
                      <a:srgbClr val="E53935"/>
                    </a:solidFill>
                  </a:tcPr>
                </a:tc>
              </a:tr>
              <a:tr h="609600"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  <a:latin typeface="Microsoft YaHei"/>
                        </a:rPr>
                        <a:t>🚨 过度信任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  <a:latin typeface="Microsoft YaHei"/>
                        </a:rPr>
                        <a:t>AI 说「已修复」就直接合入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  <a:latin typeface="Microsoft YaHei"/>
                        </a:rPr>
                        <a:t>表层修复未触根因，反复复现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  <a:latin typeface="Microsoft YaHei"/>
                        </a:rPr>
                        <a:t>🚨 过度怀疑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  <a:latin typeface="Microsoft YaHei"/>
                        </a:rPr>
                        <a:t>每个修改都逐行 review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  <a:latin typeface="Microsoft YaHei"/>
                        </a:rPr>
                        <a:t>失去 AI 提速核心价值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609600"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  <a:latin typeface="Microsoft YaHei"/>
                        </a:rPr>
                        <a:t>🚨 模糊指令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  <a:latin typeface="Microsoft YaHei"/>
                        </a:rPr>
                        <a:t>「把这个 bug 修了」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  <a:latin typeface="Microsoft YaHei"/>
                        </a:rPr>
                        <a:t>只修表象，根因仍在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  <a:latin typeface="Microsoft YaHei"/>
                        </a:rPr>
                        <a:t>🚨 一次到位幻想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  <a:latin typeface="Microsoft YaHei"/>
                        </a:rPr>
                        <a:t>期待一次审查解决所有问题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  <a:latin typeface="Microsoft YaHei"/>
                        </a:rPr>
                        <a:t>本项目经历 4 轮才彻底解决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609600"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  <a:latin typeface="Microsoft YaHei"/>
                        </a:rPr>
                        <a:t>🚨 跳过验证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  <a:latin typeface="Microsoft YaHei"/>
                        </a:rPr>
                        <a:t>AI 修完直接发布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  <a:latin typeface="Microsoft YaHei"/>
                        </a:rPr>
                        <a:t>真机问题永远暴露不出来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457200" y="5486400"/>
            <a:ext cx="11338560" cy="914400"/>
          </a:xfrm>
          <a:prstGeom prst="roundRect">
            <a:avLst/>
          </a:prstGeom>
          <a:solidFill>
            <a:srgbClr val="FFF3E0"/>
          </a:solidFill>
          <a:ln>
            <a:solidFill>
              <a:srgbClr val="F57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6235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F57C00"/>
                </a:solidFill>
                <a:latin typeface="Microsoft YaHei"/>
              </a:rPr>
              <a:t>本项目的真实经历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9893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202020"/>
                </a:solidFill>
                <a:latin typeface="Microsoft YaHei"/>
              </a:rPr>
              <a:t>卡死问题历经 4 层防御才彻底解决：canBeat → 回退链 → Mutex → 兜底推进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0080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15 / 21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1A73E8"/>
                </a:solidFill>
                <a:latin typeface="Microsoft YaHei"/>
              </a:rPr>
              <a:t>五、最佳实践 &amp; 效率数据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1247120" cy="36576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1A73E8"/>
                </a:solidFill>
                <a:latin typeface="Microsoft YaHei"/>
              </a:rPr>
              <a:t>高效协同的 6 条实践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202020"/>
                </a:solidFill>
                <a:latin typeface="Microsoft YaHei"/>
              </a:rPr>
              <a:t>1. 症状描述要具体 — 截图比文字信息量大 10 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202020"/>
                </a:solidFill>
                <a:latin typeface="Microsoft YaHei"/>
              </a:rPr>
              <a:t>2. 截图优于文字 — UI/现象类问题直接给上下文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69748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202020"/>
                </a:solidFill>
                <a:latin typeface="Microsoft YaHei"/>
              </a:rPr>
              <a:t>3. 允许多轮迭代 — 表象 → 根因 → 防护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0040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202020"/>
                </a:solidFill>
                <a:latin typeface="Microsoft YaHei"/>
              </a:rPr>
              <a:t>4. 关键决策人工拍板 — 架构、协议、依赖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70332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202020"/>
                </a:solidFill>
                <a:latin typeface="Microsoft YaHei"/>
              </a:rPr>
              <a:t>5. 人工把守发布闸门 — commit/push 前最终 review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20624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202020"/>
                </a:solidFill>
                <a:latin typeface="Microsoft YaHei"/>
              </a:rPr>
              <a:t>6. 开放性指令激发全量审查 — 「自查自纠」 &gt; 「修这个 bug」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118872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1A73E8"/>
                </a:solidFill>
                <a:latin typeface="Microsoft YaHei"/>
              </a:rPr>
              <a:t>效率数据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132320" y="1691640"/>
          <a:ext cx="457200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</a:tblGrid>
              <a:tr h="502920">
                <a:tc>
                  <a:txBody>
                    <a:bodyPr lIns="50000" rIns="50000" tIns="20000" bIns="20000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指标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50000" rIns="50000" tIns="20000" bIns="20000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数值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</a:tr>
              <a:tr h="502920"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300">
                          <a:solidFill>
                            <a:srgbClr val="202020"/>
                          </a:solidFill>
                          <a:latin typeface="Microsoft YaHei"/>
                        </a:rPr>
                        <a:t>人工总投入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300">
                          <a:solidFill>
                            <a:srgbClr val="202020"/>
                          </a:solidFill>
                          <a:latin typeface="Microsoft YaHei"/>
                        </a:rPr>
                        <a:t>~30 小时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300">
                          <a:solidFill>
                            <a:srgbClr val="202020"/>
                          </a:solidFill>
                          <a:latin typeface="Microsoft YaHei"/>
                        </a:rPr>
                        <a:t>AI 等效工作量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300">
                          <a:solidFill>
                            <a:srgbClr val="202020"/>
                          </a:solidFill>
                          <a:latin typeface="Microsoft YaHei"/>
                        </a:rPr>
                        <a:t>~300 小时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502920"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300">
                          <a:solidFill>
                            <a:srgbClr val="202020"/>
                          </a:solidFill>
                          <a:latin typeface="Microsoft YaHei"/>
                        </a:rPr>
                        <a:t>提速比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300">
                          <a:solidFill>
                            <a:srgbClr val="202020"/>
                          </a:solidFill>
                          <a:latin typeface="Microsoft YaHei"/>
                        </a:rPr>
                        <a:t>约 10 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300">
                          <a:solidFill>
                            <a:srgbClr val="202020"/>
                          </a:solidFill>
                          <a:latin typeface="Microsoft YaHei"/>
                        </a:rPr>
                        <a:t>单次修复成功率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300">
                          <a:solidFill>
                            <a:srgbClr val="202020"/>
                          </a:solidFill>
                          <a:latin typeface="Microsoft YaHei"/>
                        </a:rPr>
                        <a:t>~12%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502920"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300">
                          <a:solidFill>
                            <a:srgbClr val="202020"/>
                          </a:solidFill>
                          <a:latin typeface="Microsoft YaHei"/>
                        </a:rPr>
                        <a:t>总迭代次数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300">
                          <a:solidFill>
                            <a:srgbClr val="202020"/>
                          </a:solidFill>
                          <a:latin typeface="Microsoft YaHei"/>
                        </a:rPr>
                        <a:t>8 次 commit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7132320" y="4937760"/>
            <a:ext cx="4572000" cy="1463040"/>
          </a:xfrm>
          <a:prstGeom prst="roundRect">
            <a:avLst/>
          </a:prstGeom>
          <a:solidFill>
            <a:srgbClr val="F0F4FF"/>
          </a:solidFill>
          <a:ln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0" y="507492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73E8"/>
                </a:solidFill>
                <a:latin typeface="Microsoft YaHei"/>
              </a:rPr>
              <a:t>💡 启示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5440680"/>
            <a:ext cx="42062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提速 10 倍的代价是迭代次数增加，需要轻量 review 流程配合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0" y="640080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16 / 21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1A73E8"/>
                </a:solidFill>
                <a:latin typeface="Microsoft YaHei"/>
              </a:rPr>
              <a:t>六、关键技术修复 (1/3)：四层防卡死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1247120" cy="36576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E53935"/>
                </a:solidFill>
                <a:latin typeface="Microsoft YaHei"/>
              </a:rPr>
              <a:t>症状：游戏卡在等待 AI 出牌，永不响应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91640"/>
            <a:ext cx="11247120" cy="4023360"/>
          </a:xfrm>
          <a:prstGeom prst="rect">
            <a:avLst/>
          </a:prstGeom>
          <a:solidFill>
            <a:srgbClr val="F4F4F4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0000" rIns="150000" tIns="100000" bIns="100000"/>
          <a:lstStyle/>
          <a:p>
            <a:pPr algn="ctr"/>
            <a:r>
              <a:rPr sz="1300">
                <a:solidFill>
                  <a:srgbClr val="202020"/>
                </a:solidFill>
                <a:latin typeface="Consolas"/>
              </a:rPr>
              <a:t>[层 1]  canBeat 炸弹比较错误</a:t>
            </a:r>
          </a:p>
          <a:p>
            <a:r>
              <a:rPr sz="1300">
                <a:solidFill>
                  <a:srgbClr val="202020"/>
                </a:solidFill>
                <a:latin typeface="Consolas"/>
              </a:rPr>
              <a:t>        修复前：current.size != last.size → return false（大炸弹反而打不过！）</a:t>
            </a:r>
          </a:p>
          <a:p>
            <a:r>
              <a:rPr sz="1300">
                <a:solidFill>
                  <a:srgbClr val="202020"/>
                </a:solidFill>
                <a:latin typeface="Consolas"/>
              </a:rPr>
              <a:t>        修复后：大张数直接胜，张数相同再比牌点</a:t>
            </a:r>
          </a:p>
          <a:p>
            <a:r>
              <a:rPr sz="1300">
                <a:solidFill>
                  <a:srgbClr val="202020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202020"/>
                </a:solidFill>
                <a:latin typeface="Consolas"/>
              </a:rPr>
              <a:t>[层 2]  AI 失败无任何回退</a:t>
            </a:r>
          </a:p>
          <a:p>
            <a:r>
              <a:rPr sz="1300">
                <a:solidFill>
                  <a:srgbClr val="202020"/>
                </a:solidFill>
                <a:latin typeface="Consolas"/>
              </a:rPr>
              <a:t>        修复：首选动作 → 过牌 → 最小单张（三级回退）</a:t>
            </a:r>
          </a:p>
          <a:p>
            <a:r>
              <a:rPr sz="1300">
                <a:solidFill>
                  <a:srgbClr val="202020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202020"/>
                </a:solidFill>
                <a:latin typeface="Consolas"/>
              </a:rPr>
              <a:t>[层 3]  多协程无锁并发写 state.hands</a:t>
            </a:r>
          </a:p>
          <a:p>
            <a:r>
              <a:rPr sz="1300">
                <a:solidFill>
                  <a:srgbClr val="202020"/>
                </a:solidFill>
                <a:latin typeface="Consolas"/>
              </a:rPr>
              <a:t>        修复：每房间一把 Mutex</a:t>
            </a:r>
          </a:p>
          <a:p>
            <a:r>
              <a:rPr sz="1300">
                <a:solidFill>
                  <a:srgbClr val="202020"/>
                </a:solidFill>
                <a:latin typeface="Consolas"/>
              </a:rPr>
              <a:t>              修改 state 在锁内 · 广播在锁外（避免 I/O 阻塞锁）</a:t>
            </a:r>
          </a:p>
          <a:p>
            <a:r>
              <a:rPr sz="1300">
                <a:solidFill>
                  <a:srgbClr val="202020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202020"/>
                </a:solidFill>
                <a:latin typeface="Consolas"/>
              </a:rPr>
              <a:t>[层 4]  三级回退均失败时游戏仍卡</a:t>
            </a:r>
          </a:p>
          <a:p>
            <a:r>
              <a:rPr sz="1300">
                <a:solidFill>
                  <a:srgbClr val="202020"/>
                </a:solidFill>
                <a:latin typeface="Consolas"/>
              </a:rPr>
              <a:t>        修复：broadcastForceAdvance 强制推进，同步所有客户端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5852160"/>
            <a:ext cx="11338560" cy="640080"/>
          </a:xfrm>
          <a:prstGeom prst="roundRect">
            <a:avLst/>
          </a:prstGeom>
          <a:solidFill>
            <a:srgbClr val="F0F4FF"/>
          </a:solidFill>
          <a:ln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59893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73E8"/>
                </a:solidFill>
                <a:latin typeface="Microsoft YaHei"/>
              </a:rPr>
              <a:t>💡 教训：单机与联网验证逻辑必须保持一致，差异越早发现代价越低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0080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17 / 21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1A73E8"/>
                </a:solidFill>
                <a:latin typeface="Microsoft YaHei"/>
              </a:rPr>
              <a:t>六、关键技术修复 (2/3)：重连时序陷阱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1247120" cy="36576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E53935"/>
                </a:solidFill>
                <a:latin typeface="Microsoft YaHei"/>
              </a:rPr>
              <a:t>症状：断线后重连，游戏永远显示「连接中」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783080"/>
            <a:ext cx="11247120" cy="1828800"/>
          </a:xfrm>
          <a:prstGeom prst="rect">
            <a:avLst/>
          </a:prstGeom>
          <a:solidFill>
            <a:srgbClr val="F4F4F4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0000" rIns="150000" tIns="100000" bIns="100000"/>
          <a:lstStyle/>
          <a:p>
            <a:pPr algn="ctr"/>
            <a:r>
              <a:rPr sz="1400">
                <a:solidFill>
                  <a:srgbClr val="202020"/>
                </a:solidFill>
                <a:latin typeface="Consolas"/>
              </a:rPr>
              <a:t>// ❌ 修复前</a:t>
            </a:r>
          </a:p>
          <a:p>
            <a:r>
              <a:rPr sz="1400">
                <a:solidFill>
                  <a:srgbClr val="202020"/>
                </a:solidFill>
                <a:latin typeface="Consolas"/>
              </a:rPr>
              <a:t>ws = client.newWebSocket(request, listener)  // 异步，立即返回</a:t>
            </a:r>
          </a:p>
          <a:p>
            <a:r>
              <a:rPr sz="1400">
                <a:solidFill>
                  <a:srgbClr val="202020"/>
                </a:solidFill>
                <a:latin typeface="Consolas"/>
              </a:rPr>
              <a:t>// ws 仍在 CONNECTING 状态，send() 返回 false，消息静默丢弃 ↓</a:t>
            </a:r>
          </a:p>
          <a:p>
            <a:r>
              <a:rPr sz="1400">
                <a:solidFill>
                  <a:srgbClr val="202020"/>
                </a:solidFill>
                <a:latin typeface="Consolas"/>
              </a:rPr>
              <a:t>sessionToken?.let { send(Reconnect(it)) }    // BUG：永远失败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3749039"/>
            <a:ext cx="11247120" cy="2194560"/>
          </a:xfrm>
          <a:prstGeom prst="rect">
            <a:avLst/>
          </a:prstGeom>
          <a:solidFill>
            <a:srgbClr val="F4F4F4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0000" rIns="150000" tIns="100000" bIns="100000"/>
          <a:lstStyle/>
          <a:p>
            <a:pPr algn="ctr"/>
            <a:r>
              <a:rPr sz="1400">
                <a:solidFill>
                  <a:srgbClr val="202020"/>
                </a:solidFill>
                <a:latin typeface="Consolas"/>
              </a:rPr>
              <a:t>// ✅ 修复后：在 onOpen 回调内发送，确保 ws 已 OPEN</a:t>
            </a:r>
          </a:p>
          <a:p>
            <a:r>
              <a:rPr sz="1400">
                <a:solidFill>
                  <a:srgbClr val="202020"/>
                </a:solidFill>
                <a:latin typeface="Consolas"/>
              </a:rPr>
              <a:t>override fun onOpen(ws: WebSocket, response: Response) {</a:t>
            </a:r>
          </a:p>
          <a:p>
            <a:r>
              <a:rPr sz="1400">
                <a:solidFill>
                  <a:srgbClr val="202020"/>
                </a:solidFill>
                <a:latin typeface="Consolas"/>
              </a:rPr>
              <a:t>    scope.launch {</a:t>
            </a:r>
          </a:p>
          <a:p>
            <a:r>
              <a:rPr sz="1400">
                <a:solidFill>
                  <a:srgbClr val="202020"/>
                </a:solidFill>
                <a:latin typeface="Consolas"/>
              </a:rPr>
              <a:t>        _connectionState.value = Connected</a:t>
            </a:r>
          </a:p>
          <a:p>
            <a:r>
              <a:rPr sz="1400">
                <a:solidFill>
                  <a:srgbClr val="202020"/>
                </a:solidFill>
                <a:latin typeface="Consolas"/>
              </a:rPr>
              <a:t>        sessionToken?.let { send(Reconnect(it)) }  // OK</a:t>
            </a:r>
          </a:p>
          <a:p>
            <a:r>
              <a:rPr sz="1400">
                <a:solidFill>
                  <a:srgbClr val="202020"/>
                </a:solidFill>
                <a:latin typeface="Consolas"/>
              </a:rPr>
              <a:t>    }</a:t>
            </a:r>
          </a:p>
          <a:p>
            <a:r>
              <a:rPr sz="1400">
                <a:solidFill>
                  <a:srgbClr val="202020"/>
                </a:solidFill>
                <a:latin typeface="Consolas"/>
              </a:rPr>
              <a:t>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6080760"/>
            <a:ext cx="11338560" cy="548640"/>
          </a:xfrm>
          <a:prstGeom prst="roundRect">
            <a:avLst/>
          </a:prstGeom>
          <a:solidFill>
            <a:srgbClr val="F0F4FF"/>
          </a:solidFill>
          <a:ln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199632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73E8"/>
                </a:solidFill>
                <a:latin typeface="Microsoft YaHei"/>
              </a:rPr>
              <a:t>💡 教训：「创建连接」 ≠ 「连接已建立」；异步 API 必须在回调中操作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0080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18 / 21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1A73E8"/>
                </a:solidFill>
                <a:latin typeface="Microsoft YaHei"/>
              </a:rPr>
              <a:t>六、关键技术修复 (3/3)：两端结算不一致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1247120" cy="36576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E53935"/>
                </a:solidFill>
                <a:latin typeface="Microsoft YaHei"/>
              </a:rPr>
              <a:t>症状：已收分全是 0；游戏结束时双方分数不符合预期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916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202020"/>
                </a:solidFill>
                <a:latin typeface="Microsoft YaHei"/>
              </a:rPr>
              <a:t>根因：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202020"/>
                </a:solidFill>
                <a:latin typeface="Microsoft YaHei"/>
              </a:rPr>
              <a:t>1. getStateForPlayer 中 collectedScore 硬编码为 0（playerScores 字段缺失）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68879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202020"/>
                </a:solidFill>
                <a:latin typeface="Microsoft YaHei"/>
              </a:rPr>
              <a:t>2. 结算公式服务端遗漏「输方未走完玩家已收分」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108960"/>
            <a:ext cx="11247120" cy="2560320"/>
          </a:xfrm>
          <a:prstGeom prst="rect">
            <a:avLst/>
          </a:prstGeom>
          <a:solidFill>
            <a:srgbClr val="F4F4F4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0000" rIns="150000" tIns="100000" bIns="100000"/>
          <a:lstStyle/>
          <a:p>
            <a:pPr algn="ctr"/>
            <a:r>
              <a:rPr sz="1300">
                <a:solidFill>
                  <a:srgbClr val="202020"/>
                </a:solidFill>
                <a:latin typeface="Consolas"/>
              </a:rPr>
              <a:t>统一公式：</a:t>
            </a:r>
          </a:p>
          <a:p>
            <a:r>
              <a:rPr sz="1300">
                <a:solidFill>
                  <a:srgbClr val="202020"/>
                </a:solidFill>
                <a:latin typeface="Consolas"/>
              </a:rPr>
              <a:t>  赢方得分 = 赢方所有已收</a:t>
            </a:r>
          </a:p>
          <a:p>
            <a:r>
              <a:rPr sz="1300">
                <a:solidFill>
                  <a:srgbClr val="202020"/>
                </a:solidFill>
                <a:latin typeface="Consolas"/>
              </a:rPr>
              <a:t>           + 输方未走完玩家（已收 + 手牌分）  ← 服务端原来漏了这项</a:t>
            </a:r>
          </a:p>
          <a:p>
            <a:r>
              <a:rPr sz="1300">
                <a:solidFill>
                  <a:srgbClr val="202020"/>
                </a:solidFill>
                <a:latin typeface="Consolas"/>
              </a:rPr>
              <a:t>  输方得分 = 输方已走完玩家的已收</a:t>
            </a:r>
          </a:p>
          <a:p>
            <a:r>
              <a:rPr sz="1300">
                <a:solidFill>
                  <a:srgbClr val="202020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202020"/>
                </a:solidFill>
                <a:latin typeface="Consolas"/>
              </a:rPr>
              <a:t>新增字段：</a:t>
            </a:r>
          </a:p>
          <a:p>
            <a:r>
              <a:rPr sz="1300">
                <a:solidFill>
                  <a:srgbClr val="202020"/>
                </a:solidFill>
                <a:latin typeface="Consolas"/>
              </a:rPr>
              <a:t>  state.playerScores: MutableMap&lt;Int, Int&gt;</a:t>
            </a:r>
          </a:p>
          <a:p>
            <a:r>
              <a:rPr sz="1300">
                <a:solidFill>
                  <a:srgbClr val="202020"/>
                </a:solidFill>
                <a:latin typeface="Consolas"/>
              </a:rPr>
              <a:t>  在 handleRoundEnd 每次赢牌时同步累加 → collectedScore 实时正确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5852160"/>
            <a:ext cx="11338560" cy="640080"/>
          </a:xfrm>
          <a:prstGeom prst="roundRect">
            <a:avLst/>
          </a:prstGeom>
          <a:solidFill>
            <a:srgbClr val="E8F5E9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59893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2E7D32"/>
                </a:solidFill>
                <a:latin typeface="Microsoft YaHei"/>
              </a:rPr>
              <a:t>✓ 15 个验证用例全部通过（含提前结算、速度流、极端场景）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40080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19 / 21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1A73E8"/>
                </a:solidFill>
                <a:latin typeface="Microsoft YaHei"/>
              </a:rPr>
              <a:t>七、工程经验 &amp; 后续行动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1247120" cy="36576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1A73E8"/>
                </a:solidFill>
                <a:latin typeface="Microsoft YaHei"/>
              </a:rPr>
              <a:t>核心经验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202020"/>
                </a:solidFill>
                <a:latin typeface="Microsoft YaHei"/>
              </a:rPr>
              <a:t>1. 「修了又坏」根因 — 只修表层，没往深挖；卡死历经 4 层才解决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202020"/>
                </a:solidFill>
                <a:latin typeface="Microsoft YaHei"/>
              </a:rPr>
              <a:t>2. 单机/联网共享逻辑必须保持一致 — 炸弹/结算/回合 3 处不一致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146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202020"/>
                </a:solidFill>
                <a:latin typeface="Microsoft YaHei"/>
              </a:rPr>
              <a:t>3. AI 辅助的正确分工 — AI 静态扫描 + 人工真机验证，不可互相替代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26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202020"/>
                </a:solidFill>
                <a:latin typeface="Microsoft YaHei"/>
              </a:rPr>
              <a:t>4. 协议与环境问题必须人工打通 — Android cleartext、503 等纯代码看不出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5204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1A73E8"/>
                </a:solidFill>
                <a:latin typeface="Microsoft YaHei"/>
              </a:rPr>
              <a:t>后续建议行动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4023360"/>
          <a:ext cx="112471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2286000"/>
                <a:gridCol w="7863840"/>
              </a:tblGrid>
              <a:tr h="396240">
                <a:tc>
                  <a:txBody>
                    <a:bodyPr lIns="50000" rIns="50000" tIns="20000" bIns="20000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优先级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50000" rIns="50000" tIns="20000" bIns="20000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行动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50000" rIns="50000" tIns="20000" bIns="20000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说明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</a:tr>
              <a:tr h="396240"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🔴 P0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自动化集成测试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炸弹比较 / 结算 / 重连流程写服务端单元测试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🔴 P0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共享规则层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canBeat + SettlementCalculator → KMP 共享模块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396240"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🟠 P1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监控告警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上线 force-advance 计数指标，触发即告警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🟡 P2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弱网测试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集成限速工具，系统化回归重连场景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396240"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🟡 P2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协议版本号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15000" bIns="15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添加 protocolVersion 强制兼容检查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10789920" y="640080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20 / 21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03120"/>
            <a:ext cx="10515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400" b="1">
                <a:solidFill>
                  <a:srgbClr val="1A73E8"/>
                </a:solidFill>
                <a:latin typeface="Microsoft YaHei"/>
              </a:rPr>
              <a:t>谢谢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0" y="4114800"/>
            <a:ext cx="9418320" cy="1463040"/>
          </a:xfrm>
          <a:prstGeom prst="roundRect">
            <a:avLst/>
          </a:prstGeom>
          <a:solidFill>
            <a:srgbClr val="F0F4FF"/>
          </a:solidFill>
          <a:ln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54480" y="4297680"/>
            <a:ext cx="9052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A73E8"/>
                </a:solidFill>
                <a:latin typeface="Microsoft YaHei"/>
              </a:rPr>
              <a:t>核心结论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4754880"/>
            <a:ext cx="9052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202020"/>
                </a:solidFill>
                <a:latin typeface="Microsoft YaHei"/>
              </a:rPr>
              <a:t>AI 负责「静态全量审查」，人工负责「动态真机验证」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5166360"/>
            <a:ext cx="9052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A73E8"/>
                </a:solidFill>
                <a:latin typeface="Microsoft YaHei"/>
              </a:rPr>
              <a:t>互补而非替代  ·  协同效率约 10 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60350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0">
                <a:solidFill>
                  <a:srgbClr val="606060"/>
                </a:solidFill>
                <a:latin typeface="Microsoft YaHei"/>
              </a:rPr>
              <a:t>问题 &amp; 讨论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